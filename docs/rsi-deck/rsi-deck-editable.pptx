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692f3dc4-6b2f-52cd-58f7-2ab99cfce5ea}">
          <p14:sldIdLst>
            <p14:sldId id="256"/>
          </p14:sldIdLst>
        </p14:section>
        <p14:section name="1 基本思路" id="{3658ce22-11ca-4481-2bbd-47a3cd2de9db}">
          <p14:sldIdLst>
            <p14:sldId id="257"/>
            <p14:sldId id="258"/>
          </p14:sldIdLst>
        </p14:section>
        <p14:section name="2 场景" id="{8d331584-297e-875d-4ad0-a42de842b913}">
          <p14:sldIdLst>
            <p14:sldId id="259"/>
            <p14:sldId id="260"/>
            <p14:sldId id="261"/>
          </p14:sldIdLst>
        </p14:section>
        <p14:section name="3 流程" id="{d1eebbf9-2a2d-5b05-dada-eed60a91d5ab}">
          <p14:sldIdLst>
            <p14:sldId id="262"/>
          </p14:sldIdLst>
        </p14:section>
        <p14:section name="4 初始布局" id="{86054469-ed0c-7443-3f28-6c259d22d363}">
          <p14:sldIdLst>
            <p14:sldId id="263"/>
            <p14:sldId id="264"/>
            <p14:sldId id="265"/>
            <p14:sldId id="266"/>
          </p14:sldIdLst>
        </p14:section>
        <p14:section name="5 WebGPU 布局器" id="{770a0e1e-1ad4-1c6a-ca8f-35da812bb258}">
          <p14:sldIdLst>
            <p14:sldId id="267"/>
            <p14:sldId id="268"/>
            <p14:sldId id="269"/>
          </p14:sldIdLst>
        </p14:section>
        <p14:section name="6 布线器" id="{cd2906c4-3469-9f42-0608-530a7030e2cc}">
          <p14:sldIdLst>
            <p14:sldId id="270"/>
            <p14:sldId id="271"/>
          </p14:sldIdLst>
        </p14:section>
        <p14:section name="7 其他模块" id="{5a74fda1-110e-9cd2-30b8-056042c53dfc}">
          <p14:sldIdLst>
            <p14:sldId id="272"/>
            <p14:sldId id="273"/>
          </p14:sldIdLst>
        </p14:section>
        <p14:section name="8 总结" id="{abed42d0-16f6-ba09-f0f2-fddea6440f7d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总结" id="{c3f38dab-3f50-f347-e5b9-ef0ce0d7a70a}">
          <p14:sldIdLst>
            <p14:sldId id="282"/>
          </p14:sldIdLst>
        </p14:section>
        <p14:section name="展望" id="{b458404f-8d14-1d1a-44bf-904fbe2731c8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均值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211</c:v>
                </c:pt>
                <c:pt idx="2">
                  <c:v>283</c:v>
                </c:pt>
                <c:pt idx="3">
                  <c:v>299</c:v>
                </c:pt>
                <c:pt idx="4">
                  <c:v>305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/ 种子 1</c:v>
                </c:pt>
              </c:strCache>
            </c:strRef>
          </c:tx>
          <c:spPr>
            <a:solidFill>
              <a:srgbClr val="7FAEE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FAEE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</c:v>
                </c:pt>
                <c:pt idx="1">
                  <c:v>207</c:v>
                </c:pt>
                <c:pt idx="2">
                  <c:v>300</c:v>
                </c:pt>
                <c:pt idx="3">
                  <c:v>299</c:v>
                </c:pt>
                <c:pt idx="4">
                  <c:v>318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/ 种子 2</c:v>
                </c:pt>
              </c:strCache>
            </c:strRef>
          </c:tx>
          <c:spPr>
            <a:solidFill>
              <a:srgbClr val="7FAEE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FAEE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</c:v>
                </c:pt>
                <c:pt idx="1">
                  <c:v>209</c:v>
                </c:pt>
                <c:pt idx="2">
                  <c:v>262</c:v>
                </c:pt>
                <c:pt idx="3">
                  <c:v>315</c:v>
                </c:pt>
                <c:pt idx="4">
                  <c:v>297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会话 / 种子 3</c:v>
                </c:pt>
              </c:strCache>
            </c:strRef>
          </c:tx>
          <c:spPr>
            <a:solidFill>
              <a:srgbClr val="7FAEE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7FAEE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217</c:v>
                </c:pt>
                <c:pt idx="2">
                  <c:v>287</c:v>
                </c:pt>
                <c:pt idx="3">
                  <c:v>283</c:v>
                </c:pt>
                <c:pt idx="4">
                  <c:v>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人工 318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318</c:v>
                </c:pt>
                <c:pt idx="1">
                  <c:v>318</c:v>
                </c:pt>
                <c:pt idx="2">
                  <c:v>318</c:v>
                </c:pt>
                <c:pt idx="3">
                  <c:v>318</c:v>
                </c:pt>
                <c:pt idx="4">
                  <c:v>318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布通网络（个，共 318）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均值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4239</c:v>
                </c:pt>
                <c:pt idx="1">
                  <c:v>1103</c:v>
                </c:pt>
                <c:pt idx="2">
                  <c:v>731</c:v>
                </c:pt>
                <c:pt idx="3">
                  <c:v>685</c:v>
                </c:pt>
                <c:pt idx="4">
                  <c:v>595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/ 种子 1</c:v>
                </c:pt>
              </c:strCache>
            </c:strRef>
          </c:tx>
          <c:spPr>
            <a:solidFill>
              <a:srgbClr val="F2A27F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27F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4351</c:v>
                </c:pt>
                <c:pt idx="1">
                  <c:v>1137</c:v>
                </c:pt>
                <c:pt idx="2">
                  <c:v>642</c:v>
                </c:pt>
                <c:pt idx="3">
                  <c:v>678</c:v>
                </c:pt>
                <c:pt idx="4">
                  <c:v>504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/ 种子 2</c:v>
                </c:pt>
              </c:strCache>
            </c:strRef>
          </c:tx>
          <c:spPr>
            <a:solidFill>
              <a:srgbClr val="F2A27F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27F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4165</c:v>
                </c:pt>
                <c:pt idx="1">
                  <c:v>1135</c:v>
                </c:pt>
                <c:pt idx="2">
                  <c:v>732</c:v>
                </c:pt>
                <c:pt idx="3">
                  <c:v>604</c:v>
                </c:pt>
                <c:pt idx="4">
                  <c:v>651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会话 / 种子 3</c:v>
                </c:pt>
              </c:strCache>
            </c:strRef>
          </c:tx>
          <c:spPr>
            <a:solidFill>
              <a:srgbClr val="F2A27F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27F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4200</c:v>
                </c:pt>
                <c:pt idx="1">
                  <c:v>1036</c:v>
                </c:pt>
                <c:pt idx="2">
                  <c:v>819</c:v>
                </c:pt>
                <c:pt idx="3">
                  <c:v>774</c:v>
                </c:pt>
                <c:pt idx="4">
                  <c:v>631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人工 291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Cypress 单独
随机起点</c:v>
                  </c:pt>
                  <c:pt idx="1">
                    <c:v>工具起点 + Cypress
无 Agent</c:v>
                  </c:pt>
                  <c:pt idx="2">
                    <c:v>加入 Agent</c:v>
                  </c:pt>
                  <c:pt idx="3">
                    <c:v>Agent +
IC 放置规则</c:v>
                  </c:pt>
                  <c:pt idx="4">
                    <c:v>Agent +
器件旋转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291</c:v>
                </c:pt>
                <c:pt idx="1">
                  <c:v>291</c:v>
                </c:pt>
                <c:pt idx="2">
                  <c:v>291</c:v>
                </c:pt>
                <c:pt idx="3">
                  <c:v>291</c:v>
                </c:pt>
                <c:pt idx="4">
                  <c:v>291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6000"/>
          <c:min val="20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过孔（个，对数轴）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 单独（随机起点）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82.6</c:v>
                </c:pt>
                <c:pt idx="2">
                  <c:v>98.4</c:v>
                </c:pt>
                <c:pt idx="3">
                  <c:v>100</c:v>
                </c:pt>
                <c:pt idx="4">
                  <c:v>100</c:v>
                </c:pt>
                <c:pt idx="5">
                  <c:v>98.7</c:v>
                </c:pt>
                <c:pt idx="6">
                  <c:v>96.9</c:v>
                </c:pt>
                <c:pt idx="7">
                  <c:v>60.8</c:v>
                </c:pt>
                <c:pt idx="8">
                  <c:v>11.3</c:v>
                </c:pt>
                <c:pt idx="9">
                  <c:v>97.3</c:v>
                </c:pt>
                <c:pt idx="10">
                  <c:v>98</c:v>
                </c:pt>
                <c:pt idx="11">
                  <c:v>5</c:v>
                </c:pt>
                <c:pt idx="12">
                  <c:v>69.9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 单独（随机起点）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1.67</c:v>
                </c:pt>
                <c:pt idx="1">
                  <c:v>4.48</c:v>
                </c:pt>
                <c:pt idx="2">
                  <c:v>4.63</c:v>
                </c:pt>
                <c:pt idx="3">
                  <c:v>3.71</c:v>
                </c:pt>
                <c:pt idx="4">
                  <c:v>1.81</c:v>
                </c:pt>
                <c:pt idx="5">
                  <c:v>3.58</c:v>
                </c:pt>
                <c:pt idx="6">
                  <c:v>3.89</c:v>
                </c:pt>
                <c:pt idx="7">
                  <c:v>5.91</c:v>
                </c:pt>
                <c:pt idx="8">
                  <c:v>9.9</c:v>
                </c:pt>
                <c:pt idx="9">
                  <c:v>3.58</c:v>
                </c:pt>
                <c:pt idx="10">
                  <c:v>3.6</c:v>
                </c:pt>
                <c:pt idx="11">
                  <c:v>12.3</c:v>
                </c:pt>
                <c:pt idx="12">
                  <c:v>1.87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首批 dsh 在 pic 上的 HPWL（mm）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514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会话 1</c:v>
                  </c:pt>
                  <c:pt idx="1">
                    <c:v>会话 2</c:v>
                  </c:pt>
                  <c:pt idx="2">
                    <c:v>会话 3</c:v>
                  </c:pt>
                  <c:pt idx="3">
                    <c:v>人工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4751</c:v>
                </c:pt>
                <c:pt idx="1">
                  <c:v>4774</c:v>
                </c:pt>
                <c:pt idx="2">
                  <c:v>4605</c:v>
                </c:pt>
                <c:pt idx="3">
                  <c:v>5955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HPWL（mm）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放置 / 布线工具调用 75–78%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会话时间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模型推理 15%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会话时间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其他（约 9%）</c:v>
                </c:pt>
              </c:strCache>
            </c:strRef>
          </c:tx>
          <c:spPr>
            <a:solidFill>
              <a:srgbClr val="B9B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会话时间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占会话时间（%）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布通网络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首个 place</c:v>
                  </c:pt>
                  <c:pt idx="1">
                    <c:v>refine 1</c:v>
                  </c:pt>
                  <c:pt idx="2">
                    <c:v>refine 2</c:v>
                  </c:pt>
                  <c:pt idx="3">
                    <c:v>refine 3</c:v>
                  </c:pt>
                  <c:pt idx="4">
                    <c:v>refine 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237</c:v>
                </c:pt>
                <c:pt idx="1">
                  <c:v>272</c:v>
                </c:pt>
                <c:pt idx="2">
                  <c:v>281</c:v>
                </c:pt>
                <c:pt idx="3">
                  <c:v>284</c:v>
                </c:pt>
                <c:pt idx="4">
                  <c:v>309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人工 308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首个 place</c:v>
                  </c:pt>
                  <c:pt idx="1">
                    <c:v>refine 1</c:v>
                  </c:pt>
                  <c:pt idx="2">
                    <c:v>refine 2</c:v>
                  </c:pt>
                  <c:pt idx="3">
                    <c:v>refine 3</c:v>
                  </c:pt>
                  <c:pt idx="4">
                    <c:v>refine 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308</c:v>
                </c:pt>
                <c:pt idx="1">
                  <c:v>308</c:v>
                </c:pt>
                <c:pt idx="2">
                  <c:v>308</c:v>
                </c:pt>
                <c:pt idx="3">
                  <c:v>308</c:v>
                </c:pt>
                <c:pt idx="4">
                  <c:v>308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22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布通网络（个，共 318）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pico 布通网络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随机起点基线</c:v>
                  </c:pt>
                  <c:pt idx="1">
                    <c:v>+ modules</c:v>
                  </c:pt>
                  <c:pt idx="2">
                    <c:v>+ 间距 0.5</c:v>
                  </c:pt>
                  <c:pt idx="3">
                    <c:v>8 种子均值</c:v>
                  </c:pt>
                  <c:pt idx="4">
                    <c:v>+ 连接器贴边</c:v>
                  </c:pt>
                  <c:pt idx="5">
                    <c:v>连接器作为约束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31.8</c:v>
                </c:pt>
                <c:pt idx="1">
                  <c:v>44.7</c:v>
                </c:pt>
                <c:pt idx="2">
                  <c:v>55</c:v>
                </c:pt>
                <c:pt idx="3">
                  <c:v>68.9</c:v>
                </c:pt>
                <c:pt idx="4">
                  <c:v>74</c:v>
                </c:pt>
                <c:pt idx="5">
                  <c:v>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人工 86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随机起点基线</c:v>
                  </c:pt>
                  <c:pt idx="1">
                    <c:v>+ modules</c:v>
                  </c:pt>
                  <c:pt idx="2">
                    <c:v>+ 间距 0.5</c:v>
                  </c:pt>
                  <c:pt idx="3">
                    <c:v>8 种子均值</c:v>
                  </c:pt>
                  <c:pt idx="4">
                    <c:v>+ 连接器贴边</c:v>
                  </c:pt>
                  <c:pt idx="5">
                    <c:v>连接器作为约束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</c:v>
                </c:pt>
                <c:pt idx="1">
                  <c:v>86</c:v>
                </c:pt>
                <c:pt idx="2">
                  <c:v>86</c:v>
                </c:pt>
                <c:pt idx="3">
                  <c:v>86</c:v>
                </c:pt>
                <c:pt idx="4">
                  <c:v>86</c:v>
                </c:pt>
                <c:pt idx="5">
                  <c:v>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布通网络（个，共 86）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随机起点：最差种子</c:v>
                </c:pt>
              </c:strCache>
            </c:strRef>
          </c:tx>
          <c:spPr>
            <a:solidFill>
              <a:srgbClr val="F5B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pico（86）</c:v>
                  </c:pt>
                  <c:pt idx="1">
                    <c:v>edk（124）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103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随机起点：最好种子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pico（86）</c:v>
                  </c:pt>
                  <c:pt idx="1">
                    <c:v>edk（124）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</c:v>
                </c:pt>
                <c:pt idx="1">
                  <c:v>120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人工布局作起点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pico（86）</c:v>
                  </c:pt>
                  <c:pt idx="1">
                    <c:v>edk（124）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86</c:v>
                </c:pt>
                <c:pt idx="1">
                  <c:v>124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最好 HPWL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仅布局器对照</c:v>
                  </c:pt>
                  <c:pt idx="1">
                    <c:v>VeoPlace 弱锚点</c:v>
                  </c:pt>
                  <c:pt idx="2">
                    <c:v>VeoPlace 构造式</c:v>
                  </c:pt>
                  <c:pt idx="3">
                    <c:v>重启最好 无 VLM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929</c:v>
                </c:pt>
                <c:pt idx="1">
                  <c:v>931</c:v>
                </c:pt>
                <c:pt idx="2">
                  <c:v>870</c:v>
                </c:pt>
                <c:pt idx="3">
                  <c:v>856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人工 915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仅布局器对照</c:v>
                  </c:pt>
                  <c:pt idx="1">
                    <c:v>VeoPlace 弱锚点</c:v>
                  </c:pt>
                  <c:pt idx="2">
                    <c:v>VeoPlace 构造式</c:v>
                  </c:pt>
                  <c:pt idx="3">
                    <c:v>重启最好 无 VLM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915</c:v>
                </c:pt>
                <c:pt idx="1">
                  <c:v>915</c:v>
                </c:pt>
                <c:pt idx="2">
                  <c:v>915</c:v>
                </c:pt>
                <c:pt idx="3">
                  <c:v>915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40"/>
          <c:min val="84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HPWL（mm）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pico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默认流程</c:v>
                  </c:pt>
                  <c:pt idx="1">
                    <c:v>20 大件固定，其余默认</c:v>
                  </c:pt>
                  <c:pt idx="2">
                    <c:v>20 大件定位，其余放邻居中位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1.111</c:v>
                </c:pt>
                <c:pt idx="1">
                  <c:v>1.158</c:v>
                </c:pt>
                <c:pt idx="2">
                  <c:v>0.967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edk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11"/>
            <c:spPr>
              <a:solidFill>
                <a:srgbClr val="1BAF7A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默认流程</c:v>
                  </c:pt>
                  <c:pt idx="1">
                    <c:v>20 大件固定，其余默认</c:v>
                  </c:pt>
                  <c:pt idx="2">
                    <c:v>20 大件定位，其余放邻居中位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1.003</c:v>
                </c:pt>
                <c:pt idx="1">
                  <c:v>1.011</c:v>
                </c:pt>
                <c:pt idx="2">
                  <c:v>0.961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默认流程</c:v>
                  </c:pt>
                  <c:pt idx="1">
                    <c:v>20 大件固定，其余默认</c:v>
                  </c:pt>
                  <c:pt idx="2">
                    <c:v>20 大件定位，其余放邻居中位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2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.9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HPWL ÷ 人工（倍）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294</c:v>
                </c:pt>
                <c:pt idx="1">
                  <c:v>263</c:v>
                </c:pt>
                <c:pt idx="2">
                  <c:v>311</c:v>
                </c:pt>
                <c:pt idx="3">
                  <c:v>314</c:v>
                </c:pt>
                <c:pt idx="4">
                  <c:v>316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范围</c:v>
                </c:pt>
              </c:strCache>
            </c:strRef>
          </c:tx>
          <c:spPr>
            <a:solidFill>
              <a:srgbClr val="B8D2F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25</c:v>
                </c:pt>
                <c:pt idx="2">
                  <c:v>7</c:v>
                </c:pt>
                <c:pt idx="3">
                  <c:v>4</c:v>
                </c:pt>
                <c:pt idx="4">
                  <c:v>0.28800000000000003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运行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294</c:v>
                </c:pt>
                <c:pt idx="1">
                  <c:v>271</c:v>
                </c:pt>
                <c:pt idx="2">
                  <c:v>316</c:v>
                </c:pt>
                <c:pt idx="3">
                  <c:v>318</c:v>
                </c:pt>
                <c:pt idx="4">
                  <c:v>316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运行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305</c:v>
                </c:pt>
                <c:pt idx="1">
                  <c:v>288</c:v>
                </c:pt>
                <c:pt idx="2">
                  <c:v>318</c:v>
                </c:pt>
                <c:pt idx="3">
                  <c:v>318</c:v>
                </c:pt>
                <c:pt idx="4">
                  <c:v>316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运行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303</c:v>
                </c:pt>
                <c:pt idx="1">
                  <c:v>266</c:v>
                </c:pt>
                <c:pt idx="2">
                  <c:v>311</c:v>
                </c:pt>
                <c:pt idx="3">
                  <c:v>318</c:v>
                </c:pt>
                <c:pt idx="4">
                  <c:v>316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运行 4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297</c:v>
                </c:pt>
                <c:pt idx="1">
                  <c:v>263</c:v>
                </c:pt>
                <c:pt idx="2">
                  <c:v>316</c:v>
                </c:pt>
                <c:pt idx="3">
                  <c:v>314</c:v>
                </c:pt>
                <c:pt idx="4">
                  <c:v>316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人工 318</c:v>
                </c:pt>
              </c:strCache>
            </c:strRef>
          </c:tx>
          <c:spPr>
            <a:solidFill>
              <a:srgbClr val="52514E"/>
            </a:solidFill>
            <a:ln w="1905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2514E"/>
              </a:solidFill>
              <a:ln w="9525" cap="flat">
                <a:solidFill>
                  <a:srgbClr val="5251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L0 关键件位置+模块中心</c:v>
                  </c:pt>
                  <c:pt idx="1">
                    <c:v>L0 + 关键件旋转</c:v>
                  </c:pt>
                  <c:pt idx="2">
                    <c:v>L0 + 关键件面</c:v>
                  </c:pt>
                  <c:pt idx="3">
                    <c:v>L0 + 面 + 旋转</c:v>
                  </c:pt>
                  <c:pt idx="4">
                    <c:v>L4 完整人工起点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318</c:v>
                </c:pt>
                <c:pt idx="1">
                  <c:v>318</c:v>
                </c:pt>
                <c:pt idx="2">
                  <c:v>318</c:v>
                </c:pt>
                <c:pt idx="3">
                  <c:v>318</c:v>
                </c:pt>
                <c:pt idx="4">
                  <c:v>318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2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2"/>
          <c:min val="25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布通网络（个，共 318）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188</c:v>
                </c:pt>
                <c:pt idx="1">
                  <c:v>223</c:v>
                </c:pt>
                <c:pt idx="2">
                  <c:v>302</c:v>
                </c:pt>
                <c:pt idx="3">
                  <c:v>312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范围</c:v>
                </c:pt>
              </c:strCache>
            </c:strRef>
          </c:tx>
          <c:spPr>
            <a:solidFill>
              <a:srgbClr val="B8D2F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</c:v>
                </c:pt>
                <c:pt idx="1">
                  <c:v>17</c:v>
                </c:pt>
                <c:pt idx="2">
                  <c:v>14</c:v>
                </c:pt>
                <c:pt idx="3">
                  <c:v>0.72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运行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188</c:v>
                </c:pt>
                <c:pt idx="1">
                  <c:v>223</c:v>
                </c:pt>
                <c:pt idx="2">
                  <c:v>302</c:v>
                </c:pt>
                <c:pt idx="3">
                  <c:v>312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运行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217</c:v>
                </c:pt>
                <c:pt idx="1">
                  <c:v>240</c:v>
                </c:pt>
                <c:pt idx="2">
                  <c:v>316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人工 318</c:v>
                </c:pt>
              </c:strCache>
            </c:strRef>
          </c:tx>
          <c:spPr>
            <a:solidFill>
              <a:srgbClr val="52514E"/>
            </a:solidFill>
            <a:ln w="1905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2514E"/>
              </a:solidFill>
              <a:ln w="9525" cap="flat">
                <a:solidFill>
                  <a:srgbClr val="5251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318</c:v>
                </c:pt>
                <c:pt idx="1">
                  <c:v>318</c:v>
                </c:pt>
                <c:pt idx="2">
                  <c:v>318</c:v>
                </c:pt>
                <c:pt idx="3">
                  <c:v>318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  <c:min val="15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997</c:v>
                </c:pt>
                <c:pt idx="1">
                  <c:v>830</c:v>
                </c:pt>
                <c:pt idx="2">
                  <c:v>569</c:v>
                </c:pt>
                <c:pt idx="3">
                  <c:v>459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范围</c:v>
                </c:pt>
              </c:strCache>
            </c:strRef>
          </c:tx>
          <c:spPr>
            <a:solidFill>
              <a:srgbClr val="F5C6B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</c:v>
                </c:pt>
                <c:pt idx="1">
                  <c:v>92</c:v>
                </c:pt>
                <c:pt idx="2">
                  <c:v>12</c:v>
                </c:pt>
                <c:pt idx="3">
                  <c:v>4.6000000000000005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运行 1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997</c:v>
                </c:pt>
                <c:pt idx="1">
                  <c:v>830</c:v>
                </c:pt>
                <c:pt idx="2">
                  <c:v>569</c:v>
                </c:pt>
                <c:pt idx="3">
                  <c:v>459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运行 2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1090</c:v>
                </c:pt>
                <c:pt idx="1">
                  <c:v>922</c:v>
                </c:pt>
                <c:pt idx="2">
                  <c:v>581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人工合法化 323</c:v>
                </c:pt>
              </c:strCache>
            </c:strRef>
          </c:tx>
          <c:spPr>
            <a:solidFill>
              <a:srgbClr val="52514E"/>
            </a:solidFill>
            <a:ln w="1905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2514E"/>
              </a:solidFill>
              <a:ln w="9525" cap="flat">
                <a:solidFill>
                  <a:srgbClr val="5251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IC x,y,旋转；其余放中心</c:v>
                  </c:pt>
                  <c:pt idx="1">
                    <c:v>+ 引脚加权起点（pins）</c:v>
                  </c:pt>
                  <c:pt idx="2">
                    <c:v>+ pins-small</c:v>
                  </c:pt>
                  <c:pt idx="3">
                    <c:v>≥2 引脚件都给人工位置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323</c:v>
                </c:pt>
                <c:pt idx="1">
                  <c:v>323</c:v>
                </c:pt>
                <c:pt idx="2">
                  <c:v>323</c:v>
                </c:pt>
                <c:pt idx="3">
                  <c:v>323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过孔（个）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 随机起点</c:v>
                </c:pt>
              </c:strCache>
            </c:strRef>
          </c:tx>
          <c:spPr>
            <a:solidFill>
              <a:srgbClr val="B9B7B0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triangle"/>
            <c:size val="8"/>
            <c:spPr>
              <a:solidFill>
                <a:srgbClr val="B9B7B0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1.67</c:v>
                </c:pt>
                <c:pt idx="1">
                  <c:v>4.48</c:v>
                </c:pt>
                <c:pt idx="2">
                  <c:v>4.63</c:v>
                </c:pt>
                <c:pt idx="3">
                  <c:v>3.71</c:v>
                </c:pt>
                <c:pt idx="4">
                  <c:v>1.81</c:v>
                </c:pt>
                <c:pt idx="5">
                  <c:v>3.58</c:v>
                </c:pt>
                <c:pt idx="6">
                  <c:v>3.89</c:v>
                </c:pt>
                <c:pt idx="7">
                  <c:v>5.91</c:v>
                </c:pt>
                <c:pt idx="8">
                  <c:v>9.9</c:v>
                </c:pt>
                <c:pt idx="9">
                  <c:v>3.58</c:v>
                </c:pt>
                <c:pt idx="10">
                  <c:v>3.6</c:v>
                </c:pt>
                <c:pt idx="11">
                  <c:v>12.3</c:v>
                </c:pt>
                <c:pt idx="12">
                  <c:v>1.87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WebGPU 随机起点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8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1.24</c:v>
                </c:pt>
                <c:pt idx="1">
                  <c:v>1.9</c:v>
                </c:pt>
                <c:pt idx="2">
                  <c:v>1.95</c:v>
                </c:pt>
                <c:pt idx="3">
                  <c:v>2.68</c:v>
                </c:pt>
                <c:pt idx="4">
                  <c:v>1.71</c:v>
                </c:pt>
                <c:pt idx="5">
                  <c:v>1.86</c:v>
                </c:pt>
                <c:pt idx="6">
                  <c:v>2.12</c:v>
                </c:pt>
                <c:pt idx="7">
                  <c:v>3.74</c:v>
                </c:pt>
                <c:pt idx="8">
                  <c:v>4.72</c:v>
                </c:pt>
                <c:pt idx="9">
                  <c:v>2.06</c:v>
                </c:pt>
                <c:pt idx="10">
                  <c:v>1.99</c:v>
                </c:pt>
                <c:pt idx="11">
                  <c:v>7.21</c:v>
                </c:pt>
                <c:pt idx="12">
                  <c:v>1.79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起点单独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8"/>
            <c:spPr>
              <a:solidFill>
                <a:srgbClr val="EDA100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0.97</c:v>
                </c:pt>
                <c:pt idx="1">
                  <c:v>1.33</c:v>
                </c:pt>
                <c:pt idx="2">
                  <c:v>1.78</c:v>
                </c:pt>
                <c:pt idx="3">
                  <c:v>3.57</c:v>
                </c:pt>
                <c:pt idx="4">
                  <c:v>0.97</c:v>
                </c:pt>
                <c:pt idx="5">
                  <c:v>2.21</c:v>
                </c:pt>
                <c:pt idx="6">
                  <c:v>1.61</c:v>
                </c:pt>
                <c:pt idx="7">
                  <c:v>1.46</c:v>
                </c:pt>
                <c:pt idx="8">
                  <c:v>2.47</c:v>
                </c:pt>
                <c:pt idx="9">
                  <c:v>1.3</c:v>
                </c:pt>
                <c:pt idx="10">
                  <c:v>1.24</c:v>
                </c:pt>
                <c:pt idx="11">
                  <c:v>2.02</c:v>
                </c:pt>
                <c:pt idx="12">
                  <c:v>1.22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起点 + WebGPU 全局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1.03</c:v>
                </c:pt>
                <c:pt idx="1">
                  <c:v>1.16</c:v>
                </c:pt>
                <c:pt idx="2">
                  <c:v>1.6</c:v>
                </c:pt>
                <c:pt idx="3">
                  <c:v>2.03</c:v>
                </c:pt>
                <c:pt idx="4">
                  <c:v>0.92</c:v>
                </c:pt>
                <c:pt idx="5">
                  <c:v>1.2</c:v>
                </c:pt>
                <c:pt idx="6">
                  <c:v>1.19</c:v>
                </c:pt>
                <c:pt idx="7">
                  <c:v>1.35</c:v>
                </c:pt>
                <c:pt idx="8">
                  <c:v>1.36</c:v>
                </c:pt>
                <c:pt idx="9">
                  <c:v>1.25</c:v>
                </c:pt>
                <c:pt idx="10">
                  <c:v>1.2</c:v>
                </c:pt>
                <c:pt idx="11">
                  <c:v>1.61</c:v>
                </c:pt>
                <c:pt idx="12">
                  <c:v>1.27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Sheet1!$F$2:$F$14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5"/>
          <c:min val="0.5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过孔 ÷ 人工（倍）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 随机起点</c:v>
                </c:pt>
              </c:strCache>
            </c:strRef>
          </c:tx>
          <c:spPr>
            <a:solidFill>
              <a:srgbClr val="B9B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82.6</c:v>
                </c:pt>
                <c:pt idx="2">
                  <c:v>98.4</c:v>
                </c:pt>
                <c:pt idx="3">
                  <c:v>100</c:v>
                </c:pt>
                <c:pt idx="4">
                  <c:v>100</c:v>
                </c:pt>
                <c:pt idx="5">
                  <c:v>98.7</c:v>
                </c:pt>
                <c:pt idx="6">
                  <c:v>96.9</c:v>
                </c:pt>
                <c:pt idx="7">
                  <c:v>60.8</c:v>
                </c:pt>
                <c:pt idx="8">
                  <c:v>11.3</c:v>
                </c:pt>
                <c:pt idx="9">
                  <c:v>97.3</c:v>
                </c:pt>
                <c:pt idx="10">
                  <c:v>98</c:v>
                </c:pt>
                <c:pt idx="11">
                  <c:v>5</c:v>
                </c:pt>
                <c:pt idx="12">
                  <c:v>69.9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WebGPU 随机起点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96.3</c:v>
                </c:pt>
                <c:pt idx="5">
                  <c:v>100</c:v>
                </c:pt>
                <c:pt idx="6">
                  <c:v>100</c:v>
                </c:pt>
                <c:pt idx="7">
                  <c:v>92.5</c:v>
                </c:pt>
                <c:pt idx="8">
                  <c:v>64.2</c:v>
                </c:pt>
                <c:pt idx="9">
                  <c:v>100</c:v>
                </c:pt>
                <c:pt idx="10">
                  <c:v>100</c:v>
                </c:pt>
                <c:pt idx="11">
                  <c:v>28.9</c:v>
                </c:pt>
                <c:pt idx="12">
                  <c:v>85.7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起点单独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96.2</c:v>
                </c:pt>
                <c:pt idx="6">
                  <c:v>100</c:v>
                </c:pt>
                <c:pt idx="7">
                  <c:v>100</c:v>
                </c:pt>
                <c:pt idx="8">
                  <c:v>68.7</c:v>
                </c:pt>
                <c:pt idx="9">
                  <c:v>100</c:v>
                </c:pt>
                <c:pt idx="10">
                  <c:v>100</c:v>
                </c:pt>
                <c:pt idx="11">
                  <c:v>95.9</c:v>
                </c:pt>
                <c:pt idx="12">
                  <c:v>100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起点 + WebGPU 全局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99.4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随机起点</c:v>
                  </c:pt>
                  <c:pt idx="1">
                    <c:v>工具起点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3.95</c:v>
                </c:pt>
                <c:pt idx="1">
                  <c:v>1.55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WebGPU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随机起点</c:v>
                  </c:pt>
                  <c:pt idx="1">
                    <c:v>工具起点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2.38</c:v>
                </c:pt>
                <c:pt idx="1">
                  <c:v>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过孔 ÷ 人工（倍）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随机起点</c:v>
                  </c:pt>
                  <c:pt idx="1">
                    <c:v>工具起点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78.4</c:v>
                </c:pt>
                <c:pt idx="1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WebGPU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随机起点</c:v>
                  </c:pt>
                  <c:pt idx="1">
                    <c:v>工具起点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89.8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布通率（%）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8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35</c:v>
                </c:pt>
                <c:pt idx="1">
                  <c:v>29</c:v>
                </c:pt>
                <c:pt idx="2">
                  <c:v>33</c:v>
                </c:pt>
                <c:pt idx="3">
                  <c:v>42</c:v>
                </c:pt>
                <c:pt idx="4">
                  <c:v>65</c:v>
                </c:pt>
                <c:pt idx="5">
                  <c:v>84</c:v>
                </c:pt>
                <c:pt idx="6">
                  <c:v>55</c:v>
                </c:pt>
                <c:pt idx="7">
                  <c:v>40</c:v>
                </c:pt>
                <c:pt idx="8">
                  <c:v>129</c:v>
                </c:pt>
                <c:pt idx="9">
                  <c:v>115</c:v>
                </c:pt>
                <c:pt idx="10">
                  <c:v>137</c:v>
                </c:pt>
                <c:pt idx="11">
                  <c:v>206</c:v>
                </c:pt>
                <c:pt idx="12">
                  <c:v>390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WebGPU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  <c:pt idx="7">
                  <c:v>7</c:v>
                </c:pt>
                <c:pt idx="8">
                  <c:v>10</c:v>
                </c:pt>
                <c:pt idx="9">
                  <c:v>10</c:v>
                </c:pt>
                <c:pt idx="10">
                  <c:v>11</c:v>
                </c:pt>
                <c:pt idx="11">
                  <c:v>11</c:v>
                </c:pt>
                <c:pt idx="1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500"/>
          <c:min val="1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放置时间（s）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1.67</c:v>
                </c:pt>
                <c:pt idx="1">
                  <c:v>4.48</c:v>
                </c:pt>
                <c:pt idx="2">
                  <c:v>4.63</c:v>
                </c:pt>
                <c:pt idx="3">
                  <c:v>3.71</c:v>
                </c:pt>
                <c:pt idx="4">
                  <c:v>1.81</c:v>
                </c:pt>
                <c:pt idx="5">
                  <c:v>3.58</c:v>
                </c:pt>
                <c:pt idx="6">
                  <c:v>3.89</c:v>
                </c:pt>
                <c:pt idx="7">
                  <c:v>5.91</c:v>
                </c:pt>
                <c:pt idx="8">
                  <c:v>9.9</c:v>
                </c:pt>
                <c:pt idx="9">
                  <c:v>3.58</c:v>
                </c:pt>
                <c:pt idx="10">
                  <c:v>3.6</c:v>
                </c:pt>
                <c:pt idx="11">
                  <c:v>12.3</c:v>
                </c:pt>
                <c:pt idx="12">
                  <c:v>1.87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WebGPU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1.24</c:v>
                </c:pt>
                <c:pt idx="1">
                  <c:v>1.9</c:v>
                </c:pt>
                <c:pt idx="2">
                  <c:v>1.95</c:v>
                </c:pt>
                <c:pt idx="3">
                  <c:v>2.68</c:v>
                </c:pt>
                <c:pt idx="4">
                  <c:v>1.71</c:v>
                </c:pt>
                <c:pt idx="5">
                  <c:v>1.86</c:v>
                </c:pt>
                <c:pt idx="6">
                  <c:v>2.12</c:v>
                </c:pt>
                <c:pt idx="7">
                  <c:v>3.74</c:v>
                </c:pt>
                <c:pt idx="8">
                  <c:v>4.72</c:v>
                </c:pt>
                <c:pt idx="9">
                  <c:v>2.06</c:v>
                </c:pt>
                <c:pt idx="10">
                  <c:v>1.99</c:v>
                </c:pt>
                <c:pt idx="11">
                  <c:v>7.21</c:v>
                </c:pt>
                <c:pt idx="12">
                  <c:v>1.79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倍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Cypress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82.6</c:v>
                </c:pt>
                <c:pt idx="2">
                  <c:v>98.4</c:v>
                </c:pt>
                <c:pt idx="3">
                  <c:v>100</c:v>
                </c:pt>
                <c:pt idx="4">
                  <c:v>100</c:v>
                </c:pt>
                <c:pt idx="5">
                  <c:v>98.7</c:v>
                </c:pt>
                <c:pt idx="6">
                  <c:v>96.9</c:v>
                </c:pt>
                <c:pt idx="7">
                  <c:v>60.8</c:v>
                </c:pt>
                <c:pt idx="8">
                  <c:v>11.3</c:v>
                </c:pt>
                <c:pt idx="9">
                  <c:v>97.3</c:v>
                </c:pt>
                <c:pt idx="10">
                  <c:v>98</c:v>
                </c:pt>
                <c:pt idx="11">
                  <c:v>5</c:v>
                </c:pt>
                <c:pt idx="12">
                  <c:v>69.9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WebGPU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96.3</c:v>
                </c:pt>
                <c:pt idx="5">
                  <c:v>100</c:v>
                </c:pt>
                <c:pt idx="6">
                  <c:v>100</c:v>
                </c:pt>
                <c:pt idx="7">
                  <c:v>92.5</c:v>
                </c:pt>
                <c:pt idx="8">
                  <c:v>64.2</c:v>
                </c:pt>
                <c:pt idx="9">
                  <c:v>100</c:v>
                </c:pt>
                <c:pt idx="10">
                  <c:v>100</c:v>
                </c:pt>
                <c:pt idx="11">
                  <c:v>28.9</c:v>
                </c:pt>
                <c:pt idx="12">
                  <c:v>85.7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布通网络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2514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只用 HPWL</c:v>
                  </c:pt>
                  <c:pt idx="1">
                    <c:v>+ 双面网络</c:v>
                  </c:pt>
                  <c:pt idx="2">
                    <c:v>+ 交叉代价</c:v>
                  </c:pt>
                  <c:pt idx="3">
                    <c:v>+ 接口件锚定</c:v>
                  </c:pt>
                  <c:pt idx="4">
                    <c:v>人工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219</c:v>
                </c:pt>
                <c:pt idx="1">
                  <c:v>260</c:v>
                </c:pt>
                <c:pt idx="2">
                  <c:v>230</c:v>
                </c:pt>
                <c:pt idx="3">
                  <c:v>293</c:v>
                </c:pt>
                <c:pt idx="4">
                  <c:v>308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交叉数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只用 HPWL</c:v>
                  </c:pt>
                  <c:pt idx="1">
                    <c:v>+ 双面网络</c:v>
                  </c:pt>
                  <c:pt idx="2">
                    <c:v>+ 交叉代价</c:v>
                  </c:pt>
                  <c:pt idx="3">
                    <c:v>+ 接口件锚定</c:v>
                  </c:pt>
                  <c:pt idx="4">
                    <c:v>人工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1879</c:v>
                </c:pt>
                <c:pt idx="1">
                  <c:v>1635</c:v>
                </c:pt>
                <c:pt idx="2">
                  <c:v>1556</c:v>
                </c:pt>
                <c:pt idx="3">
                  <c:v>1343</c:v>
                </c:pt>
                <c:pt idx="4">
                  <c:v>1068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只按线距布线的过孔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只用 HPWL</c:v>
                  </c:pt>
                  <c:pt idx="1">
                    <c:v>+ 双面网络</c:v>
                  </c:pt>
                  <c:pt idx="2">
                    <c:v>+ 交叉代价</c:v>
                  </c:pt>
                  <c:pt idx="3">
                    <c:v>+ 接口件锚定</c:v>
                  </c:pt>
                  <c:pt idx="4">
                    <c:v>人工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688</c:v>
                </c:pt>
                <c:pt idx="1">
                  <c:v>592</c:v>
                </c:pt>
                <c:pt idx="2">
                  <c:v>592</c:v>
                </c:pt>
                <c:pt idx="3">
                  <c:v>535</c:v>
                </c:pt>
                <c:pt idx="4">
                  <c:v>298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改动前</c:v>
                </c:pt>
              </c:strCache>
            </c:strRef>
          </c:tx>
          <c:spPr>
            <a:solidFill>
              <a:srgbClr val="B9B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去掉 A* 闭包（acc）</c:v>
                  </c:pt>
                  <c:pt idx="1">
                    <c:v>② worker 线程池（acc 鲁棒检查）</c:v>
                  </c:pt>
                  <c:pt idx="2">
                    <c:v>③ 缓存不可达目标（edu-nxp）</c:v>
                  </c:pt>
                  <c:pt idx="3">
                    <c:v>③ 层启发 A*（acc）</c:v>
                  </c:pt>
                  <c:pt idx="4">
                    <c:v>④ 原生 C++（ppc-n3）</c:v>
                  </c:pt>
                  <c:pt idx="5">
                    <c:v>④ C++ + 层启发 + 增量（ppc-n3）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18.2</c:v>
                </c:pt>
                <c:pt idx="1">
                  <c:v>111</c:v>
                </c:pt>
                <c:pt idx="2">
                  <c:v>41.7</c:v>
                </c:pt>
                <c:pt idx="3">
                  <c:v>29</c:v>
                </c:pt>
                <c:pt idx="4">
                  <c:v>151</c:v>
                </c:pt>
                <c:pt idx="5">
                  <c:v>151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改动后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① 去掉 A* 闭包（acc）</c:v>
                  </c:pt>
                  <c:pt idx="1">
                    <c:v>② worker 线程池（acc 鲁棒检查）</c:v>
                  </c:pt>
                  <c:pt idx="2">
                    <c:v>③ 缓存不可达目标（edu-nxp）</c:v>
                  </c:pt>
                  <c:pt idx="3">
                    <c:v>③ 层启发 A*（acc）</c:v>
                  </c:pt>
                  <c:pt idx="4">
                    <c:v>④ 原生 C++（ppc-n3）</c:v>
                  </c:pt>
                  <c:pt idx="5">
                    <c:v>④ C++ + 层启发 + 增量（ppc-n3）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10.6</c:v>
                </c:pt>
                <c:pt idx="1">
                  <c:v>26</c:v>
                </c:pt>
                <c:pt idx="2">
                  <c:v>4.2</c:v>
                </c:pt>
                <c:pt idx="3">
                  <c:v>6.8</c:v>
                </c:pt>
                <c:pt idx="4">
                  <c:v>97</c:v>
                </c:pt>
                <c:pt idx="5">
                  <c:v>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200"/>
          <c:min val="1"/>
        </c:scaling>
        <c:delete val="0"/>
        <c:axPos val="b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秒（对数轴）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high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ppc-n3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JS 精确</c:v>
                  </c:pt>
                  <c:pt idx="1">
                    <c:v>C++ 精确</c:v>
                  </c:pt>
                  <c:pt idx="2">
                    <c:v>+ 层启发</c:v>
                  </c:pt>
                  <c:pt idx="3">
                    <c:v>+ 增量拆线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151</c:v>
                </c:pt>
                <c:pt idx="1">
                  <c:v>97</c:v>
                </c:pt>
                <c:pt idx="2">
                  <c:v>22.4</c:v>
                </c:pt>
                <c:pt idx="3">
                  <c:v>6.9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200"/>
          <c:min val="5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秒（对数轴）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人工真实走线</c:v>
                </c:pt>
              </c:strCache>
            </c:strRef>
          </c:tx>
          <c:spPr>
            <a:solidFill>
              <a:srgbClr val="525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pic</c:v>
                  </c:pt>
                  <c:pt idx="1">
                    <c:v>k60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322</c:v>
                </c:pt>
                <c:pt idx="1">
                  <c:v>236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校准前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pic</c:v>
                  </c:pt>
                  <c:pt idx="1">
                    <c:v>k60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354</c:v>
                </c:pt>
                <c:pt idx="1">
                  <c:v>346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校准后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pic</c:v>
                  </c:pt>
                  <c:pt idx="1">
                    <c:v>k60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322</c:v>
                </c:pt>
                <c:pt idx="1">
                  <c:v>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过孔（个）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旧口径（0.4 mm，12 轮）</c:v>
                </c:pt>
              </c:strCache>
            </c:strRef>
          </c:tx>
          <c:spPr>
            <a:solidFill>
              <a:srgbClr val="B9B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人工</c:v>
                  </c:pt>
                  <c:pt idx="1">
                    <c:v>轨迹最好</c:v>
                  </c:pt>
                  <c:pt idx="2">
                    <c:v>首批布局 1</c:v>
                  </c:pt>
                  <c:pt idx="3">
                    <c:v>首批布局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617</c:v>
                </c:pt>
                <c:pt idx="1">
                  <c:v>617</c:v>
                </c:pt>
                <c:pt idx="2">
                  <c:v>602</c:v>
                </c:pt>
                <c:pt idx="3">
                  <c:v>549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新口径（真实线距，40 轮）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人工</c:v>
                  </c:pt>
                  <c:pt idx="1">
                    <c:v>轨迹最好</c:v>
                  </c:pt>
                  <c:pt idx="2">
                    <c:v>首批布局 1</c:v>
                  </c:pt>
                  <c:pt idx="3">
                    <c:v>首批布局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617</c:v>
                </c:pt>
                <c:pt idx="1">
                  <c:v>617</c:v>
                </c:pt>
                <c:pt idx="2">
                  <c:v>617</c:v>
                </c:pt>
                <c:pt idx="3">
                  <c:v>617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人工：平移</c:v>
                  </c:pt>
                  <c:pt idx="1">
                    <c:v>人工：抖动</c:v>
                  </c:pt>
                  <c:pt idx="2">
                    <c:v>Agent v4：平移</c:v>
                  </c:pt>
                  <c:pt idx="3">
                    <c:v>Agent v4：抖动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318</c:v>
                </c:pt>
                <c:pt idx="1">
                  <c:v>318</c:v>
                </c:pt>
                <c:pt idx="2">
                  <c:v>285</c:v>
                </c:pt>
                <c:pt idx="3">
                  <c:v>276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范围</c:v>
                </c:pt>
              </c:strCache>
            </c:strRef>
          </c:tx>
          <c:spPr>
            <a:solidFill>
              <a:srgbClr val="F5C6B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人工：平移</c:v>
                  </c:pt>
                  <c:pt idx="1">
                    <c:v>人工：抖动</c:v>
                  </c:pt>
                  <c:pt idx="2">
                    <c:v>Agent v4：平移</c:v>
                  </c:pt>
                  <c:pt idx="3">
                    <c:v>Agent v4：抖动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0.248</c:v>
                </c:pt>
                <c:pt idx="1">
                  <c:v>0.248</c:v>
                </c:pt>
                <c:pt idx="2">
                  <c:v>18</c:v>
                </c:pt>
                <c:pt idx="3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0"/>
        <c:overlap val="10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运行 1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人工：平移</c:v>
                  </c:pt>
                  <c:pt idx="1">
                    <c:v>人工：抖动</c:v>
                  </c:pt>
                  <c:pt idx="2">
                    <c:v>Agent v4：平移</c:v>
                  </c:pt>
                  <c:pt idx="3">
                    <c:v>Agent v4：抖动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318</c:v>
                </c:pt>
                <c:pt idx="1">
                  <c:v>318</c:v>
                </c:pt>
                <c:pt idx="2">
                  <c:v>285</c:v>
                </c:pt>
                <c:pt idx="3">
                  <c:v>276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运行 2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人工：平移</c:v>
                  </c:pt>
                  <c:pt idx="1">
                    <c:v>人工：抖动</c:v>
                  </c:pt>
                  <c:pt idx="2">
                    <c:v>Agent v4：平移</c:v>
                  </c:pt>
                  <c:pt idx="3">
                    <c:v>Agent v4：抖动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2">
                  <c:v>303</c:v>
                </c:pt>
                <c:pt idx="3">
                  <c:v>310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2"/>
          <c:min val="260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布通网络（个，共 318）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单次路由</c:v>
                </c:pt>
              </c:strCache>
            </c:strRef>
          </c:tx>
          <c:spPr>
            <a:solidFill>
              <a:srgbClr val="B9B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k60 v4 会话 1</c:v>
                  </c:pt>
                  <c:pt idx="1">
                    <c:v>k60 v4 会话 2</c:v>
                  </c:pt>
                  <c:pt idx="2">
                    <c:v>k60 v4 会话 3</c:v>
                  </c:pt>
                  <c:pt idx="3">
                    <c:v>ppc-n3 v6 会话 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9.7</c:v>
                </c:pt>
                <c:pt idx="2">
                  <c:v>2.7</c:v>
                </c:pt>
                <c:pt idx="3">
                  <c:v>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 个相位取中位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k60 v4 会话 1</c:v>
                  </c:pt>
                  <c:pt idx="1">
                    <c:v>k60 v4 会话 2</c:v>
                  </c:pt>
                  <c:pt idx="2">
                    <c:v>k60 v4 会话 3</c:v>
                  </c:pt>
                  <c:pt idx="3">
                    <c:v>ppc-n3 v6 会话 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</c:v>
                </c:pt>
                <c:pt idx="1">
                  <c:v>2.6</c:v>
                </c:pt>
                <c:pt idx="2">
                  <c:v>2.9</c:v>
                </c:pt>
                <c:pt idx="3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标准差（个）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基线设置</c:v>
                </c:pt>
              </c:strCache>
            </c:strRef>
          </c:tx>
          <c:spPr>
            <a:solidFill>
              <a:srgbClr val="B9B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4.5</c:v>
                </c:pt>
                <c:pt idx="1">
                  <c:v>8.7</c:v>
                </c:pt>
                <c:pt idx="2">
                  <c:v>12.7</c:v>
                </c:pt>
                <c:pt idx="3">
                  <c:v>16.3</c:v>
                </c:pt>
                <c:pt idx="4">
                  <c:v>51.9</c:v>
                </c:pt>
                <c:pt idx="5">
                  <c:v>48.2</c:v>
                </c:pt>
                <c:pt idx="6">
                  <c:v>25.7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去耦规则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2.1</c:v>
                </c:pt>
                <c:pt idx="1">
                  <c:v>2</c:v>
                </c:pt>
                <c:pt idx="2">
                  <c:v>4.5</c:v>
                </c:pt>
                <c:pt idx="3">
                  <c:v>2.6</c:v>
                </c:pt>
                <c:pt idx="4">
                  <c:v>3.6</c:v>
                </c:pt>
                <c:pt idx="5">
                  <c:v>3.3</c:v>
                </c:pt>
                <c:pt idx="6">
                  <c:v>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4.9</c:v>
                </c:pt>
                <c:pt idx="1">
                  <c:v>1.6</c:v>
                </c:pt>
                <c:pt idx="2">
                  <c:v>3.4</c:v>
                </c:pt>
                <c:pt idx="3">
                  <c:v>5.8</c:v>
                </c:pt>
                <c:pt idx="4">
                  <c:v>5.7</c:v>
                </c:pt>
                <c:pt idx="5">
                  <c:v>7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8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中位距离（mm）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k60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  <c:pt idx="31">
                    <c:v>310</c:v>
                  </c:pt>
                  <c:pt idx="32">
                    <c:v>320</c:v>
                  </c:pt>
                  <c:pt idx="33">
                    <c:v>330</c:v>
                  </c:pt>
                  <c:pt idx="34">
                    <c:v>340</c:v>
                  </c:pt>
                </c:lvl>
              </c:multiLvlStrCache>
            </c:multiLvlStrRef>
          </c:cat>
          <c:val>
            <c:numRef>
              <c:f>Sheet1!$B$2:$B$36</c:f>
              <c:numCache>
                <c:formatCode>General</c:formatCode>
                <c:ptCount val="35"/>
                <c:pt idx="6">
                  <c:v>97.5</c:v>
                </c:pt>
                <c:pt idx="7">
                  <c:v>97.5</c:v>
                </c:pt>
                <c:pt idx="8">
                  <c:v>97.5</c:v>
                </c:pt>
                <c:pt idx="9">
                  <c:v>97.5</c:v>
                </c:pt>
                <c:pt idx="10">
                  <c:v>97.5</c:v>
                </c:pt>
                <c:pt idx="11">
                  <c:v>97.5</c:v>
                </c:pt>
                <c:pt idx="12">
                  <c:v>97.5</c:v>
                </c:pt>
                <c:pt idx="13">
                  <c:v>97.5</c:v>
                </c:pt>
                <c:pt idx="14">
                  <c:v>97.5</c:v>
                </c:pt>
                <c:pt idx="15">
                  <c:v>97.5</c:v>
                </c:pt>
                <c:pt idx="16">
                  <c:v>97.5</c:v>
                </c:pt>
                <c:pt idx="17">
                  <c:v>98.1</c:v>
                </c:pt>
                <c:pt idx="18">
                  <c:v>98.1</c:v>
                </c:pt>
                <c:pt idx="19">
                  <c:v>98.1</c:v>
                </c:pt>
                <c:pt idx="20">
                  <c:v>98.1</c:v>
                </c:pt>
                <c:pt idx="21">
                  <c:v>98.1</c:v>
                </c:pt>
                <c:pt idx="22">
                  <c:v>98.1</c:v>
                </c:pt>
                <c:pt idx="23">
                  <c:v>98.1</c:v>
                </c:pt>
                <c:pt idx="24">
                  <c:v>98.1</c:v>
                </c:pt>
                <c:pt idx="25">
                  <c:v>98.1</c:v>
                </c:pt>
                <c:pt idx="26">
                  <c:v>98.1</c:v>
                </c:pt>
                <c:pt idx="27">
                  <c:v>98.1</c:v>
                </c:pt>
                <c:pt idx="28">
                  <c:v>98.1</c:v>
                </c:pt>
                <c:pt idx="29">
                  <c:v>98.1</c:v>
                </c:pt>
                <c:pt idx="30">
                  <c:v>98.1</c:v>
                </c:pt>
                <c:pt idx="31">
                  <c:v>98.1</c:v>
                </c:pt>
                <c:pt idx="32">
                  <c:v>98.1</c:v>
                </c:pt>
                <c:pt idx="33">
                  <c:v>98.1</c:v>
                </c:pt>
                <c:pt idx="34">
                  <c:v>98.1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pic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1BAF7A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  <c:pt idx="31">
                    <c:v>310</c:v>
                  </c:pt>
                  <c:pt idx="32">
                    <c:v>320</c:v>
                  </c:pt>
                  <c:pt idx="33">
                    <c:v>330</c:v>
                  </c:pt>
                  <c:pt idx="34">
                    <c:v>340</c:v>
                  </c:pt>
                </c:lvl>
              </c:multiLvlStrCache>
            </c:multiLvlStrRef>
          </c:cat>
          <c:val>
            <c:numRef>
              <c:f>Sheet1!$C$2:$C$36</c:f>
              <c:numCache>
                <c:formatCode>General</c:formatCode>
                <c:ptCount val="35"/>
                <c:pt idx="4">
                  <c:v>98.7</c:v>
                </c:pt>
                <c:pt idx="5">
                  <c:v>98.7</c:v>
                </c:pt>
                <c:pt idx="6">
                  <c:v>98.7</c:v>
                </c:pt>
                <c:pt idx="7">
                  <c:v>98.7</c:v>
                </c:pt>
                <c:pt idx="8">
                  <c:v>98.7</c:v>
                </c:pt>
                <c:pt idx="9">
                  <c:v>98.7</c:v>
                </c:pt>
                <c:pt idx="10">
                  <c:v>99.4</c:v>
                </c:pt>
                <c:pt idx="11">
                  <c:v>99.4</c:v>
                </c:pt>
                <c:pt idx="12">
                  <c:v>99.4</c:v>
                </c:pt>
                <c:pt idx="13">
                  <c:v>99.4</c:v>
                </c:pt>
                <c:pt idx="14">
                  <c:v>99.4</c:v>
                </c:pt>
                <c:pt idx="15">
                  <c:v>99.4</c:v>
                </c:pt>
                <c:pt idx="16">
                  <c:v>99.4</c:v>
                </c:pt>
                <c:pt idx="17">
                  <c:v>99.4</c:v>
                </c:pt>
                <c:pt idx="18">
                  <c:v>99.4</c:v>
                </c:pt>
                <c:pt idx="19">
                  <c:v>99.4</c:v>
                </c:pt>
                <c:pt idx="20">
                  <c:v>99.4</c:v>
                </c:pt>
                <c:pt idx="21">
                  <c:v>99.4</c:v>
                </c:pt>
                <c:pt idx="22">
                  <c:v>99.4</c:v>
                </c:pt>
                <c:pt idx="23">
                  <c:v>99.4</c:v>
                </c:pt>
                <c:pt idx="24">
                  <c:v>99.4</c:v>
                </c:pt>
                <c:pt idx="25">
                  <c:v>99.4</c:v>
                </c:pt>
                <c:pt idx="26">
                  <c:v>99.4</c:v>
                </c:pt>
                <c:pt idx="27">
                  <c:v>99.4</c:v>
                </c:pt>
                <c:pt idx="28">
                  <c:v>99.4</c:v>
                </c:pt>
                <c:pt idx="29">
                  <c:v>99.4</c:v>
                </c:pt>
                <c:pt idx="30">
                  <c:v>99.4</c:v>
                </c:pt>
                <c:pt idx="31">
                  <c:v>99.4</c:v>
                </c:pt>
                <c:pt idx="32">
                  <c:v>99.4</c:v>
                </c:pt>
                <c:pt idx="33">
                  <c:v>99.4</c:v>
                </c:pt>
                <c:pt idx="34">
                  <c:v>99.4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  <c:pt idx="25">
                    <c:v>250</c:v>
                  </c:pt>
                  <c:pt idx="26">
                    <c:v>260</c:v>
                  </c:pt>
                  <c:pt idx="27">
                    <c:v>270</c:v>
                  </c:pt>
                  <c:pt idx="28">
                    <c:v>280</c:v>
                  </c:pt>
                  <c:pt idx="29">
                    <c:v>290</c:v>
                  </c:pt>
                  <c:pt idx="30">
                    <c:v>300</c:v>
                  </c:pt>
                  <c:pt idx="31">
                    <c:v>310</c:v>
                  </c:pt>
                  <c:pt idx="32">
                    <c:v>320</c:v>
                  </c:pt>
                  <c:pt idx="33">
                    <c:v>330</c:v>
                  </c:pt>
                  <c:pt idx="34">
                    <c:v>340</c:v>
                  </c:pt>
                </c:lvl>
              </c:multiLvlStrCache>
            </c:multiLvlStrRef>
          </c:cat>
          <c:val>
            <c:numRef>
              <c:f>Sheet1!$D$2:$D$36</c:f>
              <c:numCache>
                <c:formatCode>General</c:formatCode>
                <c:ptCount val="35"/>
                <c:pt idx="19">
                  <c:v>99</c:v>
                </c:pt>
                <c:pt idx="20">
                  <c:v>99</c:v>
                </c:pt>
                <c:pt idx="21">
                  <c:v>99.7</c:v>
                </c:pt>
                <c:pt idx="22">
                  <c:v>99.7</c:v>
                </c:pt>
                <c:pt idx="23">
                  <c:v>99.7</c:v>
                </c:pt>
                <c:pt idx="24">
                  <c:v>99.7</c:v>
                </c:pt>
                <c:pt idx="25">
                  <c:v>99.7</c:v>
                </c:pt>
                <c:pt idx="26">
                  <c:v>99.7</c:v>
                </c:pt>
                <c:pt idx="27">
                  <c:v>99.7</c:v>
                </c:pt>
                <c:pt idx="28">
                  <c:v>99.7</c:v>
                </c:pt>
                <c:pt idx="29">
                  <c:v>99.7</c:v>
                </c:pt>
                <c:pt idx="30">
                  <c:v>99.7</c:v>
                </c:pt>
                <c:pt idx="31">
                  <c:v>99.7</c:v>
                </c:pt>
                <c:pt idx="32">
                  <c:v>99.7</c:v>
                </c:pt>
                <c:pt idx="33">
                  <c:v>100</c:v>
                </c:pt>
                <c:pt idx="3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墙钟时间（s）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100.5"/>
          <c:min val="96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2514E"/>
                    </a:solidFill>
                    <a:latin typeface="+mn-lt"/>
                  </a:rPr>
                  <a:t>鲁棒布通 ÷ 总网络（%）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会话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-2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5</c:v>
                </c:pt>
                <c:pt idx="9">
                  <c:v>1</c:v>
                </c:pt>
                <c:pt idx="10">
                  <c:v>1</c:v>
                </c:pt>
                <c:pt idx="11">
                  <c:v>-29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-7</c:v>
                </c:pt>
                <c:pt idx="9">
                  <c:v>1</c:v>
                </c:pt>
                <c:pt idx="10">
                  <c:v>1</c:v>
                </c:pt>
                <c:pt idx="11">
                  <c:v>-20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-4</c:v>
                </c:pt>
                <c:pt idx="4">
                  <c:v>-1</c:v>
                </c:pt>
                <c:pt idx="5">
                  <c:v>0</c:v>
                </c:pt>
                <c:pt idx="7">
                  <c:v>0</c:v>
                </c:pt>
                <c:pt idx="8">
                  <c:v>4</c:v>
                </c:pt>
                <c:pt idx="9">
                  <c:v>1</c:v>
                </c:pt>
                <c:pt idx="10">
                  <c:v>1</c:v>
                </c:pt>
                <c:pt idx="11">
                  <c:v>-2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36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会话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0.75</c:v>
                </c:pt>
                <c:pt idx="1">
                  <c:v>1.24</c:v>
                </c:pt>
                <c:pt idx="2">
                  <c:v>1.13</c:v>
                </c:pt>
                <c:pt idx="3">
                  <c:v>1.3</c:v>
                </c:pt>
                <c:pt idx="4">
                  <c:v>1.44</c:v>
                </c:pt>
                <c:pt idx="5">
                  <c:v>0.88</c:v>
                </c:pt>
                <c:pt idx="6">
                  <c:v>1.42</c:v>
                </c:pt>
                <c:pt idx="7">
                  <c:v>1.03</c:v>
                </c:pt>
                <c:pt idx="8">
                  <c:v>1.11</c:v>
                </c:pt>
                <c:pt idx="9">
                  <c:v>1.19</c:v>
                </c:pt>
                <c:pt idx="10">
                  <c:v>1.29</c:v>
                </c:pt>
                <c:pt idx="11">
                  <c:v>1.59</c:v>
                </c:pt>
                <c:pt idx="12">
                  <c:v>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0.75</c:v>
                </c:pt>
                <c:pt idx="1">
                  <c:v>0.98</c:v>
                </c:pt>
                <c:pt idx="2">
                  <c:v>1.08</c:v>
                </c:pt>
                <c:pt idx="3">
                  <c:v>1.24</c:v>
                </c:pt>
                <c:pt idx="4">
                  <c:v>1.53</c:v>
                </c:pt>
                <c:pt idx="5">
                  <c:v>0.87</c:v>
                </c:pt>
                <c:pt idx="6">
                  <c:v>1.02</c:v>
                </c:pt>
                <c:pt idx="7">
                  <c:v>1.26</c:v>
                </c:pt>
                <c:pt idx="8">
                  <c:v>1.29</c:v>
                </c:pt>
                <c:pt idx="9">
                  <c:v>1.31</c:v>
                </c:pt>
                <c:pt idx="10">
                  <c:v>1.26</c:v>
                </c:pt>
                <c:pt idx="11">
                  <c:v>1.65</c:v>
                </c:pt>
                <c:pt idx="12">
                  <c:v>1.46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0.67</c:v>
                </c:pt>
                <c:pt idx="1">
                  <c:v>1.29</c:v>
                </c:pt>
                <c:pt idx="2">
                  <c:v>0.78</c:v>
                </c:pt>
                <c:pt idx="3">
                  <c:v>1.28</c:v>
                </c:pt>
                <c:pt idx="4">
                  <c:v>1.4</c:v>
                </c:pt>
                <c:pt idx="5">
                  <c:v>0.82</c:v>
                </c:pt>
                <c:pt idx="7">
                  <c:v>1.35</c:v>
                </c:pt>
                <c:pt idx="8">
                  <c:v>1.23</c:v>
                </c:pt>
                <c:pt idx="9">
                  <c:v>1.18</c:v>
                </c:pt>
                <c:pt idx="10">
                  <c:v>1.32</c:v>
                </c:pt>
                <c:pt idx="11">
                  <c:v>1.57</c:v>
                </c:pt>
                <c:pt idx="12">
                  <c:v>1.45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36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会话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1.01</c:v>
                </c:pt>
                <c:pt idx="1">
                  <c:v>1.06</c:v>
                </c:pt>
                <c:pt idx="2">
                  <c:v>0.88</c:v>
                </c:pt>
                <c:pt idx="3">
                  <c:v>0.87</c:v>
                </c:pt>
                <c:pt idx="4">
                  <c:v>1.17</c:v>
                </c:pt>
                <c:pt idx="5">
                  <c:v>0.88</c:v>
                </c:pt>
                <c:pt idx="6">
                  <c:v>1</c:v>
                </c:pt>
                <c:pt idx="7">
                  <c:v>1</c:v>
                </c:pt>
                <c:pt idx="8">
                  <c:v>0.92</c:v>
                </c:pt>
                <c:pt idx="9">
                  <c:v>0.96</c:v>
                </c:pt>
                <c:pt idx="10">
                  <c:v>1.03</c:v>
                </c:pt>
                <c:pt idx="11">
                  <c:v>1.13</c:v>
                </c:pt>
                <c:pt idx="12">
                  <c:v>1.03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0.98</c:v>
                </c:pt>
                <c:pt idx="1">
                  <c:v>0.96</c:v>
                </c:pt>
                <c:pt idx="2">
                  <c:v>0.91</c:v>
                </c:pt>
                <c:pt idx="3">
                  <c:v>0.85</c:v>
                </c:pt>
                <c:pt idx="4">
                  <c:v>1.2</c:v>
                </c:pt>
                <c:pt idx="5">
                  <c:v>0.86</c:v>
                </c:pt>
                <c:pt idx="6">
                  <c:v>0.87</c:v>
                </c:pt>
                <c:pt idx="7">
                  <c:v>1.08</c:v>
                </c:pt>
                <c:pt idx="8">
                  <c:v>0.97</c:v>
                </c:pt>
                <c:pt idx="9">
                  <c:v>0.97</c:v>
                </c:pt>
                <c:pt idx="10">
                  <c:v>1.02</c:v>
                </c:pt>
                <c:pt idx="11">
                  <c:v>1.26</c:v>
                </c:pt>
                <c:pt idx="12">
                  <c:v>1.06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</c:v>
                </c:pt>
                <c:pt idx="1">
                  <c:v>1.05</c:v>
                </c:pt>
                <c:pt idx="2">
                  <c:v>0.9</c:v>
                </c:pt>
                <c:pt idx="3">
                  <c:v>0.88</c:v>
                </c:pt>
                <c:pt idx="4">
                  <c:v>1.18</c:v>
                </c:pt>
                <c:pt idx="5">
                  <c:v>0.85</c:v>
                </c:pt>
                <c:pt idx="7">
                  <c:v>1.04</c:v>
                </c:pt>
                <c:pt idx="8">
                  <c:v>0.96</c:v>
                </c:pt>
                <c:pt idx="9">
                  <c:v>0.92</c:v>
                </c:pt>
                <c:pt idx="10">
                  <c:v>1.11</c:v>
                </c:pt>
                <c:pt idx="11">
                  <c:v>1.18</c:v>
                </c:pt>
                <c:pt idx="12">
                  <c:v>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z3r0</c:v>
                  </c:pt>
                  <c:pt idx="1">
                    <c:v>pico</c:v>
                  </c:pt>
                  <c:pt idx="2">
                    <c:v>edk</c:v>
                  </c:pt>
                  <c:pt idx="3">
                    <c:v>edu-fpga</c:v>
                  </c:pt>
                  <c:pt idx="4">
                    <c:v>fsl-mini</c:v>
                  </c:pt>
                  <c:pt idx="5">
                    <c:v>edu-k60</c:v>
                  </c:pt>
                  <c:pt idx="6">
                    <c:v>edu-nxp</c:v>
                  </c:pt>
                  <c:pt idx="7">
                    <c:v>safety</c:v>
                  </c:pt>
                  <c:pt idx="8">
                    <c:v>pic</c:v>
                  </c:pt>
                  <c:pt idx="9">
                    <c:v>nxp</c:v>
                  </c:pt>
                  <c:pt idx="10">
                    <c:v>rx</c:v>
                  </c:pt>
                  <c:pt idx="11">
                    <c:v>k60</c:v>
                  </c:pt>
                  <c:pt idx="12">
                    <c:v>acc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3600000"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会话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99.75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93.4</c:v>
                </c:pt>
                <c:pt idx="1">
                  <c:v>100</c:v>
                </c:pt>
                <c:pt idx="2">
                  <c:v>99.94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94.34</c:v>
                </c:pt>
                <c:pt idx="1">
                  <c:v>100</c:v>
                </c:pt>
                <c:pt idx="2">
                  <c:v>99.94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5"/>
          <c:min val="93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会话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1.73</c:v>
                </c:pt>
                <c:pt idx="1">
                  <c:v>1.08</c:v>
                </c:pt>
                <c:pt idx="2">
                  <c:v>1.09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2.24</c:v>
                </c:pt>
                <c:pt idx="1">
                  <c:v>1.11</c:v>
                </c:pt>
                <c:pt idx="2">
                  <c:v>1.12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2.17</c:v>
                </c:pt>
                <c:pt idx="1">
                  <c:v>1.11</c:v>
                </c:pt>
                <c:pt idx="2">
                  <c:v>1.12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1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会话 1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</c:v>
                </c:pt>
                <c:pt idx="1">
                  <c:v>0.94</c:v>
                </c:pt>
                <c:pt idx="2">
                  <c:v>1.11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会话 2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1.04</c:v>
                </c:pt>
                <c:pt idx="1">
                  <c:v>0.94</c:v>
                </c:pt>
                <c:pt idx="2">
                  <c:v>0.97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会话 3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A78D6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0.99</c:v>
                </c:pt>
                <c:pt idx="1">
                  <c:v>0.94</c:v>
                </c:pt>
                <c:pt idx="2">
                  <c:v>1.01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52514E"/>
            </a:solidFill>
            <a:ln w="25400" cap="flat">
              <a:solidFill>
                <a:srgbClr val="52514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8"/>
            <c:spPr>
              <a:solidFill>
                <a:srgbClr val="52514E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k60</c:v>
                  </c:pt>
                  <c:pt idx="1">
                    <c:v>acc</c:v>
                  </c:pt>
                  <c:pt idx="2">
                    <c:v>ppc-n3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2"/>
          <c:min val="0.92"/>
        </c:scaling>
        <c:delete val="0"/>
        <c:axPos val="l"/>
        <c:majorGridlines>
          <c:spPr>
            <a:ln w="9525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148840"/>
            <a:ext cx="111858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chart" Target="/ppt/charts/chart1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chart" Target="/ppt/charts/chart21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chart" Target="/ppt/charts/chart2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chart" Target="/ppt/charts/chart3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chart" Target="/ppt/charts/chart33.xml"/><Relationship Id="rId3" Type="http://schemas.openxmlformats.org/officeDocument/2006/relationships/chart" Target="/ppt/charts/chart3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chart" Target="/ppt/charts/chart36.xml"/><Relationship Id="rId3" Type="http://schemas.openxmlformats.org/officeDocument/2006/relationships/chart" Target="/ppt/charts/chart37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916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AI4AI · 递归自我改进（RSI）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214884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自进化 Harness：让 Agent 的 PCB 布局接近人工水平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154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外层 Agent（Opus）编写并改进工具和 prompt，内层 Agent（dsh / DeepSeek Flash）用它们做布局；指标：布通网络数、过孔数、HPWL。全部数字来自 webgpu-layout 与 cypress-layout 两个仓库的实验记录（2026-09-25 至 10-07）。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块真实 KiCad 板（46–1607 个信号网络）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v1→v12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prompt / tool 版本，每版 3 个 dsh 会话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0.35–0.52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元 / 每个 15 分钟布局会话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 · 基本思路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Agent = LLM + Harness；外层 Agent 优化内层 Agent 的 Harness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LLM 是固定的，能改的是 Harness：给它看什么（prompt / skill / memory）、给它什么手（tool / MCP / CLI）、谁来规划和验收（planner / verifier）。</a:t>
            </a:r>
            <a:endParaRPr lang="en-US" sz="1300" dirty="0"/>
          </a:p>
        </p:txBody>
      </p:sp>
      <p:sp>
        <p:nvSpPr>
          <p:cNvPr id="5" name="Outer agent"/>
          <p:cNvSpPr/>
          <p:nvPr/>
        </p:nvSpPr>
        <p:spPr>
          <a:xfrm>
            <a:off x="502920" y="1828800"/>
            <a:ext cx="56692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2A78D6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外层 Agent（Opus）：读轨迹 → 改 Harness</a:t>
            </a:r>
            <a:endParaRPr lang="en-US" sz="1300" dirty="0"/>
          </a:p>
        </p:txBody>
      </p:sp>
      <p:sp>
        <p:nvSpPr>
          <p:cNvPr id="7" name="Inner agent"/>
          <p:cNvSpPr/>
          <p:nvPr/>
        </p:nvSpPr>
        <p:spPr>
          <a:xfrm>
            <a:off x="822960" y="237744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F3F2EE"/>
          </a:solidFill>
          <a:ln w="12700">
            <a:solidFill>
              <a:srgbClr val="DCDA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内层 Agent（dsh / DeepSeek Flash）</a:t>
            </a:r>
            <a:endParaRPr lang="en-US" sz="1200" dirty="0"/>
          </a:p>
        </p:txBody>
      </p:sp>
      <p:sp>
        <p:nvSpPr>
          <p:cNvPr id="9" name="Box"/>
          <p:cNvSpPr/>
          <p:nvPr/>
        </p:nvSpPr>
        <p:spPr>
          <a:xfrm>
            <a:off x="1005840" y="297180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971800"/>
            <a:ext cx="12801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不改模型权重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+</a:t>
            </a:r>
            <a:endParaRPr lang="en-US" sz="2200" dirty="0"/>
          </a:p>
        </p:txBody>
      </p:sp>
      <p:sp>
        <p:nvSpPr>
          <p:cNvPr id="12" name="Harness"/>
          <p:cNvSpPr/>
          <p:nvPr/>
        </p:nvSpPr>
        <p:spPr>
          <a:xfrm>
            <a:off x="2743200" y="2880360"/>
            <a:ext cx="2926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Harness（可被优化）</a:t>
            </a:r>
            <a:endParaRPr lang="en-US" sz="1200" dirty="0"/>
          </a:p>
        </p:txBody>
      </p:sp>
      <p:sp>
        <p:nvSpPr>
          <p:cNvPr id="14" name="Box"/>
          <p:cNvSpPr/>
          <p:nvPr/>
        </p:nvSpPr>
        <p:spPr>
          <a:xfrm>
            <a:off x="2880360" y="3291840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3291840"/>
            <a:ext cx="26517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Prompt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设计规则、经验、建议；skill / memory</a:t>
            </a:r>
            <a:endParaRPr lang="en-US" sz="1100" dirty="0"/>
          </a:p>
        </p:txBody>
      </p:sp>
      <p:sp>
        <p:nvSpPr>
          <p:cNvPr id="16" name="Box"/>
          <p:cNvSpPr/>
          <p:nvPr/>
        </p:nvSpPr>
        <p:spPr>
          <a:xfrm>
            <a:off x="2880360" y="3877056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0360" y="3877056"/>
            <a:ext cx="26517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Tool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CLI：初始布局、布局器、布线器；MCP</a:t>
            </a:r>
            <a:endParaRPr lang="en-US" sz="1100" dirty="0"/>
          </a:p>
        </p:txBody>
      </p:sp>
      <p:sp>
        <p:nvSpPr>
          <p:cNvPr id="18" name="Box"/>
          <p:cNvSpPr/>
          <p:nvPr/>
        </p:nvSpPr>
        <p:spPr>
          <a:xfrm>
            <a:off x="2880360" y="4462272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80360" y="4462272"/>
            <a:ext cx="26517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Verifier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评分器：鲁棒路由打分</a:t>
            </a:r>
            <a:endParaRPr lang="en-US" sz="1100" dirty="0"/>
          </a:p>
        </p:txBody>
      </p:sp>
      <p:sp>
        <p:nvSpPr>
          <p:cNvPr id="20" name="Box"/>
          <p:cNvSpPr/>
          <p:nvPr/>
        </p:nvSpPr>
        <p:spPr>
          <a:xfrm>
            <a:off x="2880360" y="5047488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FDF5E0"/>
          </a:solidFill>
          <a:ln w="12700">
            <a:solidFill>
              <a:srgbClr val="FDF5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80360" y="5047488"/>
            <a:ext cx="26517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Planner（可选）</a:t>
            </a:r>
            <a:endParaRPr lang="en-US" sz="1100" dirty="0"/>
          </a:p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预算、调用次数、停止条件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37744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AI4AI 的一个用法：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外层 Agent 不直接解题，而是改进内层 Agent 解题用的 Harness。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Prompt：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外层 Agent 从轨迹里总结的人工布局经验，写成内层 Agent 能执行的规则。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Tool：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外层 Agent 写代码，改接口、改算法、修 bug，每次调用控制在 3 分钟以内。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Verifier：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评分本身也是被优化的对象。评分噪声太大时，好的 prompt 也选不出来。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 · 基本思路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基本 RSI 循环：运行 → 收集轨迹 → 分析 → 改 prompt + tool</a:t>
            </a:r>
            <a:endParaRPr lang="en-US" sz="2600" dirty="0"/>
          </a:p>
        </p:txBody>
      </p:sp>
      <p:sp>
        <p:nvSpPr>
          <p:cNvPr id="4" name="Cycle"/>
          <p:cNvSpPr/>
          <p:nvPr/>
        </p:nvSpPr>
        <p:spPr>
          <a:xfrm>
            <a:off x="1097280" y="2194560"/>
            <a:ext cx="3200400" cy="3200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874520" y="3520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外层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驱动每一轮</a:t>
            </a:r>
            <a:endParaRPr lang="en-US" sz="1200" dirty="0"/>
          </a:p>
        </p:txBody>
      </p:sp>
      <p:sp>
        <p:nvSpPr>
          <p:cNvPr id="6" name="Box"/>
          <p:cNvSpPr/>
          <p:nvPr/>
        </p:nvSpPr>
        <p:spPr>
          <a:xfrm>
            <a:off x="1965960" y="1892808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1892808"/>
            <a:ext cx="1463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运行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3 个 dsh 会话并行</a:t>
            </a:r>
            <a:endParaRPr lang="en-US" sz="1200" dirty="0"/>
          </a:p>
        </p:txBody>
      </p:sp>
      <p:sp>
        <p:nvSpPr>
          <p:cNvPr id="8" name="Box"/>
          <p:cNvSpPr/>
          <p:nvPr/>
        </p:nvSpPr>
        <p:spPr>
          <a:xfrm>
            <a:off x="3566160" y="3493008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3493008"/>
            <a:ext cx="1463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轨迹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events.jsonl</a:t>
            </a:r>
            <a:endParaRPr lang="en-US" sz="1200" dirty="0"/>
          </a:p>
        </p:txBody>
      </p:sp>
      <p:sp>
        <p:nvSpPr>
          <p:cNvPr id="10" name="Box"/>
          <p:cNvSpPr/>
          <p:nvPr/>
        </p:nvSpPr>
        <p:spPr>
          <a:xfrm>
            <a:off x="1965960" y="5093208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65960" y="5093208"/>
            <a:ext cx="1463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耗时、决策、失败点</a:t>
            </a:r>
            <a:endParaRPr lang="en-US" sz="1200" dirty="0"/>
          </a:p>
        </p:txBody>
      </p:sp>
      <p:sp>
        <p:nvSpPr>
          <p:cNvPr id="12" name="Box"/>
          <p:cNvSpPr/>
          <p:nvPr/>
        </p:nvSpPr>
        <p:spPr>
          <a:xfrm>
            <a:off x="365760" y="3493008"/>
            <a:ext cx="1463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3493008"/>
            <a:ext cx="146304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改进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prompt vN+1、tool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顺时针循环</a:t>
            </a:r>
            <a:endParaRPr lang="en-US" sz="1000" dirty="0"/>
          </a:p>
        </p:txBody>
      </p:sp>
      <p:sp>
        <p:nvSpPr>
          <p:cNvPr id="15" name="Chart title"/>
          <p:cNvSpPr txBox="1"/>
          <p:nvPr/>
        </p:nvSpPr>
        <p:spPr>
          <a:xfrm>
            <a:off x="5074920" y="1234440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k60（cypress-layout harness）：每一轮 RSI 之后的结果</a:t>
            </a:r>
            <a:endParaRPr lang="en-US" sz="1300" dirty="0"/>
          </a:p>
        </p:txBody>
      </p:sp>
      <p:sp>
        <p:nvSpPr>
          <p:cNvPr id="16" name="Chart note"/>
          <p:cNvSpPr txBox="1"/>
          <p:nvPr/>
        </p:nvSpPr>
        <p:spPr>
          <a:xfrm>
            <a:off x="5074920" y="1527048"/>
            <a:ext cx="6613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点 = 单个会话（或种子），线 = 均值，虚线 = 人工布局。每一步都是外层 Agent 读轨迹后改了 tool 或 prompt。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074920" y="1920240"/>
          <a:ext cx="6613855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5074920" y="3886200"/>
          <a:ext cx="6613855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Footnote"/>
          <p:cNvSpPr txBox="1"/>
          <p:nvPr/>
        </p:nvSpPr>
        <p:spPr>
          <a:xfrm>
            <a:off x="502920" y="6144768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加入 Agent：起点改为 pins-small + 去耦电容，由 Agent 定 IC 布局；IC 放置规则：删掉被人工数据否掉的“大 IC 下不放件”规则，place 提速；器件旋转：冻结 Cypress 旋转，IC 旋转由 Agent 定、小件旋转由工具推导。另一个 harness 上迭代 12 个版本后发现，会话之间的差距大于版本之间的差异，这引出了后面的“评分器降噪”。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· 场景：自动布局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没有 AI 时：拼算法。Cypress（NVlabs，ISPD'25）单独使用的效果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相同协议：原始板面、机械件和插件固定、0.1 mm 合法化、原生精确布线器（多网格相位取中位）。随机起点，3 个种子取中位数。</a:t>
            </a:r>
            <a:endParaRPr lang="en-US" sz="1300" dirty="0"/>
          </a:p>
        </p:txBody>
      </p:sp>
      <p:sp>
        <p:nvSpPr>
          <p:cNvPr id="5" name="Chart title"/>
          <p:cNvSpPr txBox="1"/>
          <p:nvPr/>
        </p:nvSpPr>
        <p:spPr>
          <a:xfrm>
            <a:off x="502920" y="1783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布通率（%，布通的信号网络 ÷ 总数）</a:t>
            </a:r>
            <a:endParaRPr lang="en-US" sz="1300" dirty="0"/>
          </a:p>
        </p:txBody>
      </p:sp>
      <p:sp>
        <p:nvSpPr>
          <p:cNvPr id="6" name="Chart note"/>
          <p:cNvSpPr txBox="1"/>
          <p:nvPr/>
        </p:nvSpPr>
        <p:spPr>
          <a:xfrm>
            <a:off x="502920" y="207568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人工布局都是 100%。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377440"/>
          <a:ext cx="541004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hart title"/>
          <p:cNvSpPr txBox="1"/>
          <p:nvPr/>
        </p:nvSpPr>
        <p:spPr>
          <a:xfrm>
            <a:off x="6278728" y="1783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过孔数 ÷ 人工过孔数（倍）</a:t>
            </a:r>
            <a:endParaRPr lang="en-US" sz="1300" dirty="0"/>
          </a:p>
        </p:txBody>
      </p:sp>
      <p:sp>
        <p:nvSpPr>
          <p:cNvPr id="9" name="Chart note"/>
          <p:cNvSpPr txBox="1"/>
          <p:nvPr/>
        </p:nvSpPr>
        <p:spPr>
          <a:xfrm>
            <a:off x="6278728" y="207568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 = 与人工持平。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78728" y="2377440"/>
          <a:ext cx="541004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k60：Cypress 只布通 16/318，过孔 4245，人工 345；pic：35/310。单次放置时间中位数 64.9 s（13 板），acc 上 390 s。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· 场景：自动布局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用 AI4AI 的思路：布局问题里的 Harness 是什么</a:t>
            </a:r>
            <a:endParaRPr lang="en-US" sz="2600" dirty="0"/>
          </a:p>
        </p:txBody>
      </p:sp>
      <p:sp>
        <p:nvSpPr>
          <p:cNvPr id="4" name="Prompt：给 Agent 的设计规则"/>
          <p:cNvSpPr/>
          <p:nvPr/>
        </p:nvSpPr>
        <p:spPr>
          <a:xfrm>
            <a:off x="502920" y="1463040"/>
            <a:ext cx="3545738" cy="3931920"/>
          </a:xfrm>
          <a:prstGeom prst="roundRect">
            <a:avLst>
              <a:gd name="adj" fmla="val 206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Prompt：给 Agent 的设计规则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08853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先定 IC 的位置、面、旋转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先写 3 个结构不同的 floorplan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差值在 metrics.noise 以内就是噪声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被数据否掉的规则会删掉，比如“大 IC 下面不放件”</a:t>
            </a:r>
            <a:endParaRPr lang="en-US" sz="1400" dirty="0"/>
          </a:p>
        </p:txBody>
      </p:sp>
      <p:sp>
        <p:nvSpPr>
          <p:cNvPr id="7" name="Tool：布局器、布线器、初始布局"/>
          <p:cNvSpPr/>
          <p:nvPr/>
        </p:nvSpPr>
        <p:spPr>
          <a:xfrm>
            <a:off x="4322978" y="1463040"/>
            <a:ext cx="3545738" cy="3931920"/>
          </a:xfrm>
          <a:prstGeom prst="roundRect">
            <a:avLst>
              <a:gd name="adj" fmla="val 2063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1578" y="1645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Tool：布局器、布线器、初始布局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51578" y="2240280"/>
            <a:ext cx="308853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 / map / check / place / inspect / submit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初始布局（起点）：从网表推导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WebGPU 布局器 / Cypress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原生 C++ 布线器</a:t>
            </a:r>
            <a:endParaRPr lang="en-US" sz="1400" dirty="0"/>
          </a:p>
        </p:txBody>
      </p:sp>
      <p:sp>
        <p:nvSpPr>
          <p:cNvPr id="10" name="Verifier：评分器"/>
          <p:cNvSpPr/>
          <p:nvPr/>
        </p:nvSpPr>
        <p:spPr>
          <a:xfrm>
            <a:off x="8143037" y="1463040"/>
            <a:ext cx="3545738" cy="3931920"/>
          </a:xfrm>
          <a:prstGeom prst="roundRect">
            <a:avLst>
              <a:gd name="adj" fmla="val 2063"/>
            </a:avLst>
          </a:prstGeom>
          <a:solidFill>
            <a:srgbClr val="E6F6EF"/>
          </a:solidFill>
          <a:ln w="12700">
            <a:solidFill>
              <a:srgbClr val="E6F6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71637" y="1645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Verifier：评分器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71637" y="2240280"/>
            <a:ext cx="308853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按板子线距和规则布线，用人工的真实走线校准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多网格相位取中位数，去掉噪声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每次提交都由外部重新评估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合法性：重叠、外框、禁布区、固定件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这三样都由外层 Agent 优化。下面依次看流程，以及三个关键模块的演化：初始布局、布局器、布线器。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· 场景：自动布局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三个关键指标怎么算：布通网络数、过孔数、HPWL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每个候选布局都先过同一个合法化器，再用同一个布线器真实地布一遍线，指标从布线结果里读出来。HPWL 不需要布线。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布通网络数（个，越多越好）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22978" y="178308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过孔数（个，越少越好）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43037" y="178308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HPWL（mm，越短越好）</a:t>
            </a:r>
            <a:endParaRPr lang="en-US" sz="1500" dirty="0"/>
          </a:p>
        </p:txBody>
      </p:sp>
      <p:sp>
        <p:nvSpPr>
          <p:cNvPr id="8" name="Pad"/>
          <p:cNvSpPr/>
          <p:nvPr/>
        </p:nvSpPr>
        <p:spPr>
          <a:xfrm>
            <a:off x="594360" y="233172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3520440" y="233172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0" name="Track"/>
          <p:cNvSpPr/>
          <p:nvPr/>
        </p:nvSpPr>
        <p:spPr>
          <a:xfrm>
            <a:off x="758952" y="2414016"/>
            <a:ext cx="2761488" cy="914"/>
          </a:xfrm>
          <a:prstGeom prst="line">
            <a:avLst/>
          </a:prstGeom>
          <a:noFill/>
          <a:ln w="44450">
            <a:solidFill>
              <a:srgbClr val="2A7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2130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A：布通（clean）</a:t>
            </a:r>
            <a:endParaRPr lang="en-US" sz="950" dirty="0"/>
          </a:p>
        </p:txBody>
      </p:sp>
      <p:sp>
        <p:nvSpPr>
          <p:cNvPr id="12" name="Pad"/>
          <p:cNvSpPr/>
          <p:nvPr/>
        </p:nvSpPr>
        <p:spPr>
          <a:xfrm>
            <a:off x="594360" y="283464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3" name="Pad"/>
          <p:cNvSpPr/>
          <p:nvPr/>
        </p:nvSpPr>
        <p:spPr>
          <a:xfrm>
            <a:off x="3520440" y="283464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4" name="Track"/>
          <p:cNvSpPr/>
          <p:nvPr/>
        </p:nvSpPr>
        <p:spPr>
          <a:xfrm>
            <a:off x="758952" y="2916936"/>
            <a:ext cx="2761488" cy="914"/>
          </a:xfrm>
          <a:prstGeom prst="line">
            <a:avLst/>
          </a:prstGeom>
          <a:noFill/>
          <a:ln w="44450">
            <a:solidFill>
              <a:srgbClr val="1BAF7A"/>
            </a:solidFill>
            <a:prstDash val="solid"/>
          </a:ln>
        </p:spPr>
      </p:sp>
      <p:sp>
        <p:nvSpPr>
          <p:cNvPr id="15" name="Pad"/>
          <p:cNvSpPr/>
          <p:nvPr/>
        </p:nvSpPr>
        <p:spPr>
          <a:xfrm>
            <a:off x="1965960" y="256032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6" name="Pad"/>
          <p:cNvSpPr/>
          <p:nvPr/>
        </p:nvSpPr>
        <p:spPr>
          <a:xfrm>
            <a:off x="1965960" y="315468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17" name="Track"/>
          <p:cNvSpPr/>
          <p:nvPr/>
        </p:nvSpPr>
        <p:spPr>
          <a:xfrm>
            <a:off x="2048256" y="2724912"/>
            <a:ext cx="914" cy="429768"/>
          </a:xfrm>
          <a:prstGeom prst="line">
            <a:avLst/>
          </a:prstGeom>
          <a:noFill/>
          <a:ln w="44450">
            <a:solidFill>
              <a:srgbClr val="EDA100"/>
            </a:solidFill>
            <a:prstDash val="solid"/>
          </a:ln>
        </p:spPr>
      </p:sp>
      <p:sp>
        <p:nvSpPr>
          <p:cNvPr id="18" name="Conflict"/>
          <p:cNvSpPr/>
          <p:nvPr/>
        </p:nvSpPr>
        <p:spPr>
          <a:xfrm>
            <a:off x="1965960" y="2834640"/>
            <a:ext cx="164592" cy="164592"/>
          </a:xfrm>
          <a:prstGeom prst="rect">
            <a:avLst/>
          </a:prstGeom>
          <a:ln w="25400">
            <a:solidFill>
              <a:srgbClr val="E349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40280" y="3063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4948"/>
                </a:solidFill>
              </a:rPr>
              <a:t>B、C 抢同一格：overflow</a:t>
            </a:r>
            <a:endParaRPr lang="en-US" sz="950" dirty="0"/>
          </a:p>
        </p:txBody>
      </p:sp>
      <p:sp>
        <p:nvSpPr>
          <p:cNvPr id="20" name="Pad"/>
          <p:cNvSpPr/>
          <p:nvPr/>
        </p:nvSpPr>
        <p:spPr>
          <a:xfrm>
            <a:off x="594360" y="347472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21" name="Pad"/>
          <p:cNvSpPr/>
          <p:nvPr/>
        </p:nvSpPr>
        <p:spPr>
          <a:xfrm>
            <a:off x="3520440" y="3474720"/>
            <a:ext cx="164592" cy="164592"/>
          </a:xfrm>
          <a:prstGeom prst="rect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22" name="Track"/>
          <p:cNvSpPr/>
          <p:nvPr/>
        </p:nvSpPr>
        <p:spPr>
          <a:xfrm>
            <a:off x="758952" y="3557016"/>
            <a:ext cx="1024128" cy="914"/>
          </a:xfrm>
          <a:prstGeom prst="line">
            <a:avLst/>
          </a:prstGeom>
          <a:noFill/>
          <a:ln w="44450">
            <a:solidFill>
              <a:srgbClr val="E87BA4"/>
            </a:solidFill>
            <a:prstDash val="solid"/>
          </a:ln>
        </p:spPr>
      </p:sp>
      <p:sp>
        <p:nvSpPr>
          <p:cNvPr id="23" name="Track"/>
          <p:cNvSpPr/>
          <p:nvPr/>
        </p:nvSpPr>
        <p:spPr>
          <a:xfrm>
            <a:off x="1783080" y="3557016"/>
            <a:ext cx="1737360" cy="914"/>
          </a:xfrm>
          <a:prstGeom prst="line">
            <a:avLst/>
          </a:prstGeom>
          <a:noFill/>
          <a:ln w="15875">
            <a:solidFill>
              <a:srgbClr val="E3494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2240280" y="3319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4948"/>
                </a:solidFill>
              </a:rPr>
              <a:t>D：没连上（open）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322978" y="21945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L1 顶层</a:t>
            </a:r>
            <a:endParaRPr lang="en-US" sz="950" dirty="0"/>
          </a:p>
        </p:txBody>
      </p:sp>
      <p:sp>
        <p:nvSpPr>
          <p:cNvPr id="26" name="Layer"/>
          <p:cNvSpPr/>
          <p:nvPr/>
        </p:nvSpPr>
        <p:spPr>
          <a:xfrm>
            <a:off x="5008778" y="2286000"/>
            <a:ext cx="2814218" cy="914"/>
          </a:xfrm>
          <a:prstGeom prst="line">
            <a:avLst/>
          </a:prstGeom>
          <a:noFill/>
          <a:ln w="9525">
            <a:solidFill>
              <a:srgbClr val="DCDA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22978" y="2578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L2</a:t>
            </a:r>
            <a:endParaRPr lang="en-US" sz="950" dirty="0"/>
          </a:p>
        </p:txBody>
      </p:sp>
      <p:sp>
        <p:nvSpPr>
          <p:cNvPr id="28" name="Layer"/>
          <p:cNvSpPr/>
          <p:nvPr/>
        </p:nvSpPr>
        <p:spPr>
          <a:xfrm>
            <a:off x="5008778" y="2670048"/>
            <a:ext cx="2814218" cy="914"/>
          </a:xfrm>
          <a:prstGeom prst="line">
            <a:avLst/>
          </a:prstGeom>
          <a:noFill/>
          <a:ln w="9525">
            <a:solidFill>
              <a:srgbClr val="DCDA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22978" y="29626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L3</a:t>
            </a:r>
            <a:endParaRPr lang="en-US" sz="950" dirty="0"/>
          </a:p>
        </p:txBody>
      </p:sp>
      <p:sp>
        <p:nvSpPr>
          <p:cNvPr id="30" name="Layer"/>
          <p:cNvSpPr/>
          <p:nvPr/>
        </p:nvSpPr>
        <p:spPr>
          <a:xfrm>
            <a:off x="5008778" y="3054096"/>
            <a:ext cx="2814218" cy="914"/>
          </a:xfrm>
          <a:prstGeom prst="line">
            <a:avLst/>
          </a:prstGeom>
          <a:noFill/>
          <a:ln w="9525">
            <a:solidFill>
              <a:srgbClr val="DCDA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2297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L4 底层</a:t>
            </a:r>
            <a:endParaRPr lang="en-US" sz="950" dirty="0"/>
          </a:p>
        </p:txBody>
      </p:sp>
      <p:sp>
        <p:nvSpPr>
          <p:cNvPr id="32" name="Layer"/>
          <p:cNvSpPr/>
          <p:nvPr/>
        </p:nvSpPr>
        <p:spPr>
          <a:xfrm>
            <a:off x="5008778" y="3438144"/>
            <a:ext cx="2814218" cy="914"/>
          </a:xfrm>
          <a:prstGeom prst="line">
            <a:avLst/>
          </a:prstGeom>
          <a:noFill/>
          <a:ln w="9525">
            <a:solidFill>
              <a:srgbClr val="DCDAD3"/>
            </a:solidFill>
            <a:prstDash val="solid"/>
          </a:ln>
        </p:spPr>
      </p:sp>
      <p:sp>
        <p:nvSpPr>
          <p:cNvPr id="33" name="Track"/>
          <p:cNvSpPr/>
          <p:nvPr/>
        </p:nvSpPr>
        <p:spPr>
          <a:xfrm>
            <a:off x="5054498" y="2286000"/>
            <a:ext cx="685800" cy="914"/>
          </a:xfrm>
          <a:prstGeom prst="line">
            <a:avLst/>
          </a:prstGeom>
          <a:noFill/>
          <a:ln w="44450">
            <a:solidFill>
              <a:srgbClr val="E34948"/>
            </a:solidFill>
            <a:prstDash val="solid"/>
          </a:ln>
        </p:spPr>
      </p:sp>
      <p:sp>
        <p:nvSpPr>
          <p:cNvPr id="34" name="Via"/>
          <p:cNvSpPr/>
          <p:nvPr/>
        </p:nvSpPr>
        <p:spPr>
          <a:xfrm>
            <a:off x="5694578" y="2240280"/>
            <a:ext cx="109728" cy="1243584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5" name="Track"/>
          <p:cNvSpPr/>
          <p:nvPr/>
        </p:nvSpPr>
        <p:spPr>
          <a:xfrm>
            <a:off x="5786018" y="3438144"/>
            <a:ext cx="640080" cy="914"/>
          </a:xfrm>
          <a:prstGeom prst="line">
            <a:avLst/>
          </a:prstGeom>
          <a:noFill/>
          <a:ln w="44450">
            <a:solidFill>
              <a:srgbClr val="2A78D6"/>
            </a:solidFill>
            <a:prstDash val="solid"/>
          </a:ln>
        </p:spPr>
      </p:sp>
      <p:sp>
        <p:nvSpPr>
          <p:cNvPr id="36" name="Track"/>
          <p:cNvSpPr/>
          <p:nvPr/>
        </p:nvSpPr>
        <p:spPr>
          <a:xfrm>
            <a:off x="6608978" y="2286000"/>
            <a:ext cx="365760" cy="914"/>
          </a:xfrm>
          <a:prstGeom prst="line">
            <a:avLst/>
          </a:prstGeom>
          <a:noFill/>
          <a:ln w="44450">
            <a:solidFill>
              <a:srgbClr val="E34948"/>
            </a:solidFill>
            <a:prstDash val="solid"/>
          </a:ln>
        </p:spPr>
      </p:sp>
      <p:sp>
        <p:nvSpPr>
          <p:cNvPr id="37" name="Via"/>
          <p:cNvSpPr/>
          <p:nvPr/>
        </p:nvSpPr>
        <p:spPr>
          <a:xfrm>
            <a:off x="6938162" y="2240280"/>
            <a:ext cx="109728" cy="475488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8" name="Track"/>
          <p:cNvSpPr/>
          <p:nvPr/>
        </p:nvSpPr>
        <p:spPr>
          <a:xfrm>
            <a:off x="7029602" y="2670048"/>
            <a:ext cx="502920" cy="914"/>
          </a:xfrm>
          <a:prstGeom prst="line">
            <a:avLst/>
          </a:prstGeom>
          <a:noFill/>
          <a:ln w="44450">
            <a:solidFill>
              <a:srgbClr val="1BAF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08778" y="3547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贯穿 L1→L4：层间切换 3 次，物理过孔 1 个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471818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L1→L2：切换 1 次</a:t>
            </a:r>
            <a:endParaRPr lang="en-US" sz="950" dirty="0"/>
          </a:p>
        </p:txBody>
      </p:sp>
      <p:sp>
        <p:nvSpPr>
          <p:cNvPr id="41" name="Bounding box"/>
          <p:cNvSpPr/>
          <p:nvPr/>
        </p:nvSpPr>
        <p:spPr>
          <a:xfrm>
            <a:off x="8508797" y="2331720"/>
            <a:ext cx="2560320" cy="1188720"/>
          </a:xfrm>
          <a:prstGeom prst="rect">
            <a:avLst/>
          </a:prstGeom>
          <a:solidFill>
            <a:srgbClr val="E6F6EF"/>
          </a:solidFill>
          <a:ln w="15875">
            <a:solidFill>
              <a:srgbClr val="1BAF7A"/>
            </a:solidFill>
            <a:prstDash val="dash"/>
          </a:ln>
        </p:spPr>
      </p:sp>
      <p:sp>
        <p:nvSpPr>
          <p:cNvPr id="42" name="Pin"/>
          <p:cNvSpPr/>
          <p:nvPr/>
        </p:nvSpPr>
        <p:spPr>
          <a:xfrm>
            <a:off x="8444789" y="2907792"/>
            <a:ext cx="128016" cy="128016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43" name="Pin"/>
          <p:cNvSpPr/>
          <p:nvPr/>
        </p:nvSpPr>
        <p:spPr>
          <a:xfrm>
            <a:off x="9450629" y="2267712"/>
            <a:ext cx="128016" cy="128016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44" name="Pin"/>
          <p:cNvSpPr/>
          <p:nvPr/>
        </p:nvSpPr>
        <p:spPr>
          <a:xfrm>
            <a:off x="11005109" y="3182112"/>
            <a:ext cx="128016" cy="128016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45" name="Pin"/>
          <p:cNvSpPr/>
          <p:nvPr/>
        </p:nvSpPr>
        <p:spPr>
          <a:xfrm>
            <a:off x="9999269" y="3456432"/>
            <a:ext cx="128016" cy="128016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46" name="Pin"/>
          <p:cNvSpPr/>
          <p:nvPr/>
        </p:nvSpPr>
        <p:spPr>
          <a:xfrm>
            <a:off x="9084869" y="2999232"/>
            <a:ext cx="128016" cy="128016"/>
          </a:xfrm>
          <a:prstGeom prst="ellipse">
            <a:avLst/>
          </a:prstGeom>
          <a:solidFill>
            <a:srgbClr val="0B0B0B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47" name="Width"/>
          <p:cNvSpPr/>
          <p:nvPr/>
        </p:nvSpPr>
        <p:spPr>
          <a:xfrm>
            <a:off x="8508797" y="3657600"/>
            <a:ext cx="2560320" cy="914"/>
          </a:xfrm>
          <a:prstGeom prst="line">
            <a:avLst/>
          </a:prstGeom>
          <a:noFill/>
          <a:ln w="15875">
            <a:solidFill>
              <a:srgbClr val="1BAF7A"/>
            </a:solidFill>
            <a:prstDash val="solid"/>
            <a:headEnd type="triangle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9514637" y="3703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宽 w</a:t>
            </a:r>
            <a:endParaRPr lang="en-US" sz="1000" dirty="0"/>
          </a:p>
        </p:txBody>
      </p:sp>
      <p:sp>
        <p:nvSpPr>
          <p:cNvPr id="49" name="Height"/>
          <p:cNvSpPr/>
          <p:nvPr/>
        </p:nvSpPr>
        <p:spPr>
          <a:xfrm>
            <a:off x="11206277" y="2331720"/>
            <a:ext cx="914" cy="1188720"/>
          </a:xfrm>
          <a:prstGeom prst="line">
            <a:avLst/>
          </a:prstGeom>
          <a:noFill/>
          <a:ln w="15875">
            <a:solidFill>
              <a:srgbClr val="1BAF7A"/>
            </a:solidFill>
            <a:prstDash val="solid"/>
            <a:headEnd type="triangle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11251997" y="2825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高 h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08797" y="2039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一个网络的 5 个引脚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3977640"/>
            <a:ext cx="35457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在 0.4 mm 网格上，用板子自己的层数做 PathFinder 协商布线：所有网络先各自走最短路，再逐轮给拥挤格加价重布，最多 40 轮。结束时一条信号网络所有引脚都连通、且不与别的网络共用格子，才算布通；占用冲突（overflow）或没连上（open）都不算。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4322978" y="3977640"/>
            <a:ext cx="35457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布线在相邻两层之间每换一次层，记 1 次层间切换。本片中的“过孔”默认就是层间切换数，对全部信号网络的布线求和。10 层的 ppc 板上，一个贯穿孔最多会被记 9 次，所以另外统计物理过孔：同一格上叠在一起的切换只算 1 个。双层板上两者相同。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143037" y="3977640"/>
            <a:ext cx="35457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对每个信号网络，取它所有引脚的外接矩形，记半周长 w + h；全部信号网络加起来就是 HPWL。电源和地网络不计，各网络权重相同。它不需要布线、算得最快，是布局器的主目标，但衡量不了绕线和换层：k60 上 Agent v7 的 HPWL 只比人工高约 16%（6711 vs 5799 mm），过孔却多了约 69%（489 vs 289）。</a:t>
            </a:r>
            <a:endParaRPr lang="en-US" sz="1200" dirty="0"/>
          </a:p>
        </p:txBody>
      </p:sp>
      <p:sp>
        <p:nvSpPr>
          <p:cNvPr id="55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去噪：同一个布局只平移 0.01 mm，布线结果就会变。所以工具、人工目标和最终评估都把网格整体平移若干相位（5 个；超过 1000 件的板 3 个）各布一遍，取中位数并报告范围（harness/lib/board.mjs 的 evaluate / evaluateRobust）。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 · AI4AI 流程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流程：初版 CLI → 小板并行 + 预算 → 分析轨迹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354573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① 初版 CLI（2026-10-03）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board-info / place / evaluate / submit。dsh 的沙箱拦掉了 GPU 进程池的命名管道，于是改由 broker 在沙箱外执行工具。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② 并行 + 预算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每版 3 个会话并行，15–30 分钟，place 调用次数有上限，单次调用不超过 3 分钟。第一批试跑：pic / k60 / acc。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880360"/>
          <a:ext cx="354573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833872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首批 dsh 在 pic 上的 HPWL（mm），第 4 根为人工 5955。</a:t>
            </a:r>
            <a:endParaRPr lang="en-US" sz="1000" dirty="0"/>
          </a:p>
        </p:txBody>
      </p:sp>
      <p:sp>
        <p:nvSpPr>
          <p:cNvPr id="7" name="Chart title"/>
          <p:cNvSpPr txBox="1"/>
          <p:nvPr/>
        </p:nvSpPr>
        <p:spPr>
          <a:xfrm>
            <a:off x="4322978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③ 一个会话的时间花在哪（k60，v1–v5）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4322978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工具调用占了大头。所以先优化工具速度，而不是模型。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22978" y="2103120"/>
          <a:ext cx="3545738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Chart title"/>
          <p:cNvSpPr txBox="1"/>
          <p:nvPr/>
        </p:nvSpPr>
        <p:spPr>
          <a:xfrm>
            <a:off x="8143037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③ 一条典型轨迹：在最好布局上连续 refine（k60）</a:t>
            </a:r>
            <a:endParaRPr lang="en-US" sz="1300" dirty="0"/>
          </a:p>
        </p:txBody>
      </p:sp>
      <p:sp>
        <p:nvSpPr>
          <p:cNvPr id="11" name="Chart note"/>
          <p:cNvSpPr txBox="1"/>
          <p:nvPr/>
        </p:nvSpPr>
        <p:spPr>
          <a:xfrm>
            <a:off x="8143037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从最好的布局出发，连续 refine 带来了大部分提升。</a:t>
            </a:r>
            <a:endParaRPr lang="en-US" sz="10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143037" y="2103120"/>
          <a:ext cx="3545738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轨迹里还查出几个工具 bug：v2 用 edit 设定的面，被下一次 refine 翻回去；坐标用 toFixed(6) 保存，布通数因此抖动 2–11 条。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 · 关键模块：初始布局（最关键）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起点决定结构：从“调目标函数”转向“给一个好起点”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pico：布通网络数（个，共 86）随方法演进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多种子均值。每一步的配置都比前一步多加一项；最后一步把连接器作为任务约束给定。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6278728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好起点测试：起点 → 全流程 → 布通网络数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6278728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从人工布局出发，流程能保持结果；从随机起点出发，波动很大（4 个种子）。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78728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结论：后续阶段不会破坏好结构；不稳定来自随机起点。所以 VLM 的指导应该以“起点”的形式进入，而不是弱锚点。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 · 关键模块：初始布局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VLM 出 floorplan、复现 VeoPlace：都赢不过“从最好的结果重启”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VeoPlace 复现，pico，HPWL（mm）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每组 160 次运行的最好值。接通“构造式起点”这个通道后，VLM 才有作用。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354573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4322978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构造式起点：大件定位，其余放到邻居引脚中位点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4322978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HPWL ÷ 人工（倍），6 个种子均值，越低越好。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22978" y="2011680"/>
          <a:ext cx="354573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43037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“从最好的结果重启”链的结构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143037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pico，10 轮，每轮 16 次运行；两条链结构和运行次数相同，只差新起点从哪来。</a:t>
            </a:r>
            <a:endParaRPr lang="en-US" sz="1000" dirty="0"/>
          </a:p>
        </p:txBody>
      </p:sp>
      <p:sp>
        <p:nvSpPr>
          <p:cNvPr id="12" name="Box"/>
          <p:cNvSpPr/>
          <p:nvPr/>
        </p:nvSpPr>
        <p:spPr>
          <a:xfrm>
            <a:off x="9001506" y="20574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001506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当前最好布局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按 HPWL 选</a:t>
            </a:r>
            <a:endParaRPr lang="en-US" sz="1100" dirty="0"/>
          </a:p>
        </p:txBody>
      </p:sp>
      <p:sp>
        <p:nvSpPr>
          <p:cNvPr id="14" name="Box"/>
          <p:cNvSpPr/>
          <p:nvPr/>
        </p:nvSpPr>
        <p:spPr>
          <a:xfrm>
            <a:off x="8143037" y="2788920"/>
            <a:ext cx="1681429" cy="685800"/>
          </a:xfrm>
          <a:prstGeom prst="roundRect">
            <a:avLst>
              <a:gd name="adj" fmla="val 10667"/>
            </a:avLst>
          </a:prstGeom>
          <a:solidFill>
            <a:srgbClr val="FDEEE6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43037" y="2788920"/>
            <a:ext cx="168142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VeoPlace：问 VLM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看图，给 20 个大件各画框</a:t>
            </a:r>
            <a:endParaRPr lang="en-US" sz="1050" dirty="0"/>
          </a:p>
        </p:txBody>
      </p:sp>
      <p:sp>
        <p:nvSpPr>
          <p:cNvPr id="16" name="Box"/>
          <p:cNvSpPr/>
          <p:nvPr/>
        </p:nvSpPr>
        <p:spPr>
          <a:xfrm>
            <a:off x="10007346" y="2788920"/>
            <a:ext cx="1681429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07346" y="2788920"/>
            <a:ext cx="168142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重启：不问 VLM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取最好布局里 20 个大件的位置</a:t>
            </a:r>
            <a:endParaRPr lang="en-US" sz="1050" dirty="0"/>
          </a:p>
        </p:txBody>
      </p:sp>
      <p:sp>
        <p:nvSpPr>
          <p:cNvPr id="18" name="Arrow"/>
          <p:cNvSpPr/>
          <p:nvPr/>
        </p:nvSpPr>
        <p:spPr>
          <a:xfrm flipH="1">
            <a:off x="8965997" y="2514600"/>
            <a:ext cx="584149" cy="274320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19" name="Arrow"/>
          <p:cNvSpPr/>
          <p:nvPr/>
        </p:nvSpPr>
        <p:spPr>
          <a:xfrm>
            <a:off x="10281666" y="2514600"/>
            <a:ext cx="584149" cy="274320"/>
          </a:xfrm>
          <a:prstGeom prst="line">
            <a:avLst/>
          </a:prstGeom>
          <a:noFill/>
          <a:ln w="19050">
            <a:solidFill>
              <a:srgbClr val="2A78D6"/>
            </a:solidFill>
            <a:prstDash val="solid"/>
            <a:tailEnd type="triangle"/>
          </a:ln>
        </p:spPr>
      </p:sp>
      <p:sp>
        <p:nvSpPr>
          <p:cNvPr id="20" name="Box"/>
          <p:cNvSpPr/>
          <p:nvPr/>
        </p:nvSpPr>
        <p:spPr>
          <a:xfrm>
            <a:off x="8417357" y="3794760"/>
            <a:ext cx="299709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417357" y="3794760"/>
            <a:ext cx="2997098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构造式起点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20 个大件就位，其余放到邻居引脚中位点</a:t>
            </a:r>
            <a:endParaRPr lang="en-US" sz="1100" dirty="0"/>
          </a:p>
        </p:txBody>
      </p:sp>
      <p:sp>
        <p:nvSpPr>
          <p:cNvPr id="22" name="Arrow"/>
          <p:cNvSpPr/>
          <p:nvPr/>
        </p:nvSpPr>
        <p:spPr>
          <a:xfrm>
            <a:off x="8965997" y="3474720"/>
            <a:ext cx="767029" cy="32004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 flipH="1">
            <a:off x="10098786" y="3474720"/>
            <a:ext cx="767029" cy="32004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24" name="Box"/>
          <p:cNvSpPr/>
          <p:nvPr/>
        </p:nvSpPr>
        <p:spPr>
          <a:xfrm>
            <a:off x="8417357" y="4617720"/>
            <a:ext cx="299709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417357" y="4617720"/>
            <a:ext cx="2997098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布局运行 ×8（+ 无引导 ×8）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全局放置 + LNS + 合法化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9915906" y="4343400"/>
            <a:ext cx="914" cy="27432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27" name="Box"/>
          <p:cNvSpPr/>
          <p:nvPr/>
        </p:nvSpPr>
        <p:spPr>
          <a:xfrm>
            <a:off x="8417357" y="5440680"/>
            <a:ext cx="299709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B0B0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417357" y="5440680"/>
            <a:ext cx="299709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更新最好布局，下一轮</a:t>
            </a:r>
            <a:endParaRPr lang="en-US" sz="1100" dirty="0"/>
          </a:p>
        </p:txBody>
      </p:sp>
      <p:sp>
        <p:nvSpPr>
          <p:cNvPr id="29" name="Arrow"/>
          <p:cNvSpPr/>
          <p:nvPr/>
        </p:nvSpPr>
        <p:spPr>
          <a:xfrm>
            <a:off x="9915906" y="5166360"/>
            <a:ext cx="914" cy="274320"/>
          </a:xfrm>
          <a:prstGeom prst="line">
            <a:avLst/>
          </a:prstGeom>
          <a:noFill/>
          <a:ln w="19050">
            <a:solidFill>
              <a:srgbClr val="52514E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8143037" y="58978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最好 HPWL 870 mm</a:t>
            </a:r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　　</a:t>
            </a:r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最好 HPWL 856 mm</a:t>
            </a:r>
            <a:endParaRPr lang="en-US" sz="1100" dirty="0"/>
          </a:p>
        </p:txBody>
      </p:sp>
      <p:sp>
        <p:nvSpPr>
          <p:cNvPr id="31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VLM 每次的回答都是“在当前最好的布局周围画紧框”，等于纯利用。在 HPWL 目标上，VLM 没有提供布局器自己做不到的东西；HPWL 也早就低于人工（856–870 vs 915 mm），它不是和人工的差距所在。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 · 关键模块：初始布局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关键信息阶梯：人工解里哪部分真正决定结果？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按 AGENTS.md 的思路：先加入人工解的一部分，确认它确实能提升指标，再引导 Agent 从输入自己推导出来。</a:t>
            </a:r>
            <a:endParaRPr lang="en-US" sz="1300" dirty="0"/>
          </a:p>
        </p:txBody>
      </p:sp>
      <p:sp>
        <p:nvSpPr>
          <p:cNvPr id="5" name="Chart title"/>
          <p:cNvSpPr txBox="1"/>
          <p:nvPr/>
        </p:nvSpPr>
        <p:spPr>
          <a:xfrm>
            <a:off x="502920" y="1783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WebGPU 流程，k60：布通网络数（个）</a:t>
            </a:r>
            <a:endParaRPr lang="en-US" sz="1300" dirty="0"/>
          </a:p>
        </p:txBody>
      </p:sp>
      <p:sp>
        <p:nvSpPr>
          <p:cNvPr id="6" name="Chart note"/>
          <p:cNvSpPr txBox="1"/>
          <p:nvPr/>
        </p:nvSpPr>
        <p:spPr>
          <a:xfrm>
            <a:off x="502920" y="207568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每个点是一条链（共 4 条）的结果，浅色条连起最低和最高。缺的是“面”：有了面就能全布通，单给旋转反而更差。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5410048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hart title"/>
          <p:cNvSpPr txBox="1"/>
          <p:nvPr/>
        </p:nvSpPr>
        <p:spPr>
          <a:xfrm>
            <a:off x="6278728" y="1783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Cypress 流程，k60：起点给了什么 → 布通数 / 过孔</a:t>
            </a:r>
            <a:endParaRPr lang="en-US" sz="1300" dirty="0"/>
          </a:p>
        </p:txBody>
      </p:sp>
      <p:sp>
        <p:nvSpPr>
          <p:cNvPr id="9" name="Chart note"/>
          <p:cNvSpPr txBox="1"/>
          <p:nvPr/>
        </p:nvSpPr>
        <p:spPr>
          <a:xfrm>
            <a:off x="6278728" y="207568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条的两端 = 3 个种子的最低 / 最高（原始记录只有范围）；最后一项只跑了 1 个种子。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78728" y="2514600"/>
          <a:ext cx="541004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2" descr=""/>
          <p:cNvGraphicFramePr/>
          <p:nvPr/>
        </p:nvGraphicFramePr>
        <p:xfrm>
          <a:off x="6278728" y="4251960"/>
          <a:ext cx="5410048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pins-small：两引脚件放在引脚更少的那个伙伴旁边，权重 1/伙伴引脚数（人工 k60 上到小伙伴中位距离 4.3 mm，到大伙伴 15.8 mm）。旋转建议器在人工 IC 位置上，20 个 IC 里有 16 个选出了人工的旋转。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 · 关键模块：初始布局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当前起点算法（start-layout.mjs）：只用网表，0 秒，13 块板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过孔数 ÷ 人工（倍，对数轴），3 个种子中位数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起点单独使用已远好于两个布局器的随机起点；在它之上跑 WebGPU 全局阶段最好。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1004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6278728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布通率（%）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6278728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k60、pic 上，随机起点基本布不通。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78728" y="2011680"/>
          <a:ext cx="541004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13 板汇总：起点单独 97.0% / 过孔 1.59 倍 / HPWL 1.04 倍；起点 + Cypress 97.0% / 1.55 / 1.03；起点 + WebGPU 全局 100% / 1.30 / 0.99。被数据否掉的规则：“大 IC 下不放件”（人工 k60 在 U201 下放了 21 个件）；“大 IC 外围成排放置”（提升被噪声淹没，HPWL 还涨 1.5–2%）。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 · 关键模块：WebGPU 布局器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Cypress 是 GPU 加速的布局器，但仍有提升空间：一次梯度下降 vs 多起点 + GPU 批量搜索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同一协议：固定件、板面、合法化器、布线器都相同，只换布局器。差别在于“搜索方式”和“PCB 特有的知识”。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6492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51460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B6834"/>
                          </a:solidFill>
                        </a:rPr>
                        <a:t>Cypress（benchmark 配置）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WebGPU 流水线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2514E"/>
                          </a:solidFill>
                        </a:rPr>
                        <a:t>起点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1 个随机起点，1 次求解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32 个起点各做粗放置，按精确分挑 4 个继续细化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2514E"/>
                          </a:solidFill>
                        </a:rPr>
                        <a:t>全局放置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解析式：logsumexp 线长 + 静电密度，Adam 1000 轮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解析式全局放置；GPU 打分含线长 + 重叠 + 越界 + 粗粒度拥塞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2514E"/>
                          </a:solidFill>
                        </a:rPr>
                        <a:t>局部搜索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无（legalize / detailed place 都关闭）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快速 delta LNS：每轮 1024 个候选在 GPU 上并行打分，共 400 轮；再精确 polish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2514E"/>
                          </a:solidFill>
                        </a:rPr>
                        <a:t>布线余量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静电密度，目标密度 0.65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每个引脚预留 0.6 mm² 布线面积；顶、底面各算一张密度图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2514E"/>
                          </a:solidFill>
                        </a:rPr>
                        <a:t>PCB 规则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无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去耦电容吸附到 IC 电源引脚、晶振靠 IC、电源网络加权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2514E"/>
                          </a:solidFill>
                        </a:rPr>
                        <a:t>交叉项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开（权重 0.001）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</a:rPr>
                        <a:t>本对比中关闭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2578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Cypress 配置：cypress-config.json（128×128 bins、lr 0.01、net_crossing_flag 1、legalize_flag 0、detailed_place_flag 0）。WebGPU：--preplace --power --legalize --sides original --density 3 --congestion 3，大预算。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737360"/>
            <a:ext cx="2186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19 / 39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286000"/>
            <a:ext cx="20953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Cypress 随机起点的运行中达到收敛标准（overflow ≤ 0.1）的次数（13 板 × 3 种子）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9501988" y="1737360"/>
            <a:ext cx="2186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14 s vs &gt;150 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501988" y="2286000"/>
            <a:ext cx="2186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acc 上一次 Cypress：关掉交叉项 vs 开着交叉项（超时）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88036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给同一个好起点后，差距大幅缩小（13 板汇总）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315200" y="3154680"/>
          <a:ext cx="218678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Chart 1" descr=""/>
          <p:cNvGraphicFramePr/>
          <p:nvPr/>
        </p:nvGraphicFramePr>
        <p:xfrm>
          <a:off x="9501988" y="3154680"/>
          <a:ext cx="218678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Footnote"/>
          <p:cNvSpPr txBox="1"/>
          <p:nvPr/>
        </p:nvSpPr>
        <p:spPr>
          <a:xfrm>
            <a:off x="502920" y="58521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解读（根据配置和实验推断）：① 随机起点下差距主要来自搜索方式：一次梯度下降只给一个答案，一半运行没收敛；多起点 + LNS 在 GPU 上并行评估大量候选。② 好起点补上这部分后，剩下的差距（过孔 1.55 vs 1.30 倍）来自 PCB 知识。③ 速度差主要来自交叉项本身和 1000 轮串行迭代。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 · 关键模块：WebGPU 布局器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WebGPU 布局器：比 Cypress 快约 12 倍，过孔少约 40%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单次放置时间（s，对数轴），随机起点，3 种子中位数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WebGPU：多起点全局放置 + 快速 delta LNS + 精确 polish。Cypress：benchmark 配置。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1004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6278728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逐板对比（随机起点，每组柱子一块板，3 种子中位数）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6278728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上图：过孔 ÷ 人工（倍，越低越好）；下图：布通率（%，越高越好）。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78728" y="2011680"/>
          <a:ext cx="5410048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6278728" y="3931920"/>
          <a:ext cx="5410048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CPU 参考实现上，v0.1 → v0.2 放置提速 11.85 倍，目标函数只差 0.66%。GPU 交叉计数在 batch 1024 时，每个候选 4–27 µs。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5 · 关键模块：WebGPU 布局器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目标函数的演化：从 HPWL 到“路由器才看得见的东西”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k60，相同 floorplan：校准规则下的布通网络数（个，共 318）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每一步在前一步上加一项；最后一根为人工。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6278728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同一组布局：交叉数和只按线距布线的过孔数（个）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6278728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接口件锚定：只和某个固定连接器相连的件，放到该连接器周围的区域里。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78728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过孔地图：k60 多出来的过孔集中在 MCU 模块 M1（人工 97 个，我们 210–260 个），原因是接口件被放到错误的固定连接器旁边，离人工位置 15–45 mm。单次运行间差距很大：pic 同一设置跑两次，完整规则下的布通数分别是 202 和 235。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 · 关键模块：布线器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布线器：单线程 JS → 去掉闭包 → 多线程 → 剪枝 + 层启发 → C++ → 增量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每一步改动前后：一次路由的耗时（s，对数轴）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灰 = 改动前，蓝 = 改动后。除标明的项外，路由结果完全一致。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67665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7635240" y="128016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ppc-n3（2207 件，10 层）：一次路由（s）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7635240" y="1572768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这块板决定了工具调用能否守住 3 分钟。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7635240" y="2011680"/>
          <a:ext cx="4053535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635240" y="5440680"/>
            <a:ext cx="4053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原生 C++ 与 JS 逐位一致（布通数、过孔、轮数、每个网络的状态）。加层启发和增量后不再逐位一致：16 个布局的布通数全部相同，过孔排序 Spearman 0.974。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 · 关键模块：布线器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评估口径：用人工的真实走线校准布线器；GPU 路由走不通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人工布局的过孔数（个）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人工的真实走线（从 .kicad_pcb 读出）、校准前、校准后（完整规则）。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354573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4322978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换成真实线距后，acc 的布通网络数（个，共 617）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4322978" y="157276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旧口径（0.4 mm）对 acc 严了一倍：它的真实线距是 0.19 mm。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22978" y="2011680"/>
          <a:ext cx="3545738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143037" y="128016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失败或放弃的路线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143037" y="1691640"/>
            <a:ext cx="354573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GPU 波前路由：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每轮约 38 s，CPU 只要 0.06 s，慢约 600 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Jacobi 并行协商：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会振荡，k60 只有 70–160 条，正常 229–314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粗粒度全局路由：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在 ppc 上的排序和 HPWL 一样差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FreeRouting 2.5：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pico 要 200 s，k60 590 s 还没布完；我们的 pico 不到 1 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warm 增量探针：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和完整评估无相关（Spearman −0.07）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7 · 其他关键模块：评分器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评分器降噪：同一个布局平移 0.01–0.1 mm，布通数能差 15 条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k60：同一布局只做微小扰动，布通数范围（个，共 318）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平移 / 抖动各 8 次；条的两端 = 8 次中的最低 / 最高。人工 8 次都是 318。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6278728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布通数的标准差（个）：单次路由 vs 3 个网格相位取中位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6278728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 个抖动副本（ppc 为 4 个）。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78728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工具、人工目标和最终评估都用 evaluateRobust：在 worker 线程里布 5 个网格相位（超过 1000 件的板布 3 个），取中位数并报告范围。prompt v7 告诉 Agent：差值在 metrics.noise 以内就是噪声。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7 · 其他关键模块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去耦电容规则、人机协同</a:t>
            </a:r>
            <a:endParaRPr lang="en-US" sz="2600" dirty="0"/>
          </a:p>
        </p:txBody>
      </p:sp>
      <p:sp>
        <p:nvSpPr>
          <p:cNvPr id="4" name="Chart title"/>
          <p:cNvSpPr txBox="1"/>
          <p:nvPr/>
        </p:nvSpPr>
        <p:spPr>
          <a:xfrm>
            <a:off x="502920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去耦电容到 IC 电源引脚的中位距离（mm）</a:t>
            </a:r>
            <a:endParaRPr lang="en-US" sz="1300" dirty="0"/>
          </a:p>
        </p:txBody>
      </p:sp>
      <p:sp>
        <p:nvSpPr>
          <p:cNvPr id="5" name="Chart note"/>
          <p:cNvSpPr txBox="1"/>
          <p:nvPr/>
        </p:nvSpPr>
        <p:spPr>
          <a:xfrm>
            <a:off x="502920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随机起点，4 个种子。规则：电源边权 1 + 不拉地 + 吸附到电源引脚。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011680"/>
          <a:ext cx="5410048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6278728" y="128016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协同轨迹：鲁棒布通率随时间（%）</a:t>
            </a:r>
            <a:endParaRPr lang="en-US" sz="1300" dirty="0"/>
          </a:p>
        </p:txBody>
      </p:sp>
      <p:sp>
        <p:nvSpPr>
          <p:cNvPr id="8" name="Chart note"/>
          <p:cNvSpPr txBox="1"/>
          <p:nvPr/>
        </p:nvSpPr>
        <p:spPr>
          <a:xfrm>
            <a:off x="6278728" y="1572768"/>
            <a:ext cx="541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不用 Agent 的近实时流程：4 个 floorplan → 并行放置 → 连续改进。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78728" y="2011680"/>
          <a:ext cx="54100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278728" y="58064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编辑器里：首批布局 24 s 出来；用户编辑后，20 s 内从 255 改进到 262。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13 块板：Agent（prompt v7，每板 3 个会话）对比人工布局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旧数据：webgpu-layout 的 v7 sweep（2026-10-04/05），每个会话取最好布局，用同一个校准规则布线器单次路由。两层板用完整规则，nxp / rx / acc 只按线距。</a:t>
            </a:r>
            <a:endParaRPr lang="en-US" sz="1300" dirty="0"/>
          </a:p>
        </p:txBody>
      </p:sp>
      <p:sp>
        <p:nvSpPr>
          <p:cNvPr id="5" name="Chart title"/>
          <p:cNvSpPr txBox="1"/>
          <p:nvPr/>
        </p:nvSpPr>
        <p:spPr>
          <a:xfrm>
            <a:off x="502920" y="17830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布通网络数：Agent − 人工（个）</a:t>
            </a:r>
            <a:endParaRPr lang="en-US" sz="1300" dirty="0"/>
          </a:p>
        </p:txBody>
      </p:sp>
      <p:sp>
        <p:nvSpPr>
          <p:cNvPr id="6" name="Chart note"/>
          <p:cNvSpPr txBox="1"/>
          <p:nvPr/>
        </p:nvSpPr>
        <p:spPr>
          <a:xfrm>
            <a:off x="502920" y="207568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≥ 0 表示不少于人工。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377440"/>
          <a:ext cx="354573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hart title"/>
          <p:cNvSpPr txBox="1"/>
          <p:nvPr/>
        </p:nvSpPr>
        <p:spPr>
          <a:xfrm>
            <a:off x="4322978" y="17830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过孔：Agent ÷ 人工（倍）</a:t>
            </a:r>
            <a:endParaRPr lang="en-US" sz="1300" dirty="0"/>
          </a:p>
        </p:txBody>
      </p:sp>
      <p:sp>
        <p:nvSpPr>
          <p:cNvPr id="9" name="Chart note"/>
          <p:cNvSpPr txBox="1"/>
          <p:nvPr/>
        </p:nvSpPr>
        <p:spPr>
          <a:xfrm>
            <a:off x="4322978" y="207568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 = 持平。</a:t>
            </a:r>
            <a:endParaRPr lang="en-US" sz="10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322978" y="2377440"/>
          <a:ext cx="354573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hart title"/>
          <p:cNvSpPr txBox="1"/>
          <p:nvPr/>
        </p:nvSpPr>
        <p:spPr>
          <a:xfrm>
            <a:off x="8143037" y="17830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HPWL：Agent ÷ 人工（倍）</a:t>
            </a:r>
            <a:endParaRPr lang="en-US" sz="1300" dirty="0"/>
          </a:p>
        </p:txBody>
      </p:sp>
      <p:sp>
        <p:nvSpPr>
          <p:cNvPr id="12" name="Chart note"/>
          <p:cNvSpPr txBox="1"/>
          <p:nvPr/>
        </p:nvSpPr>
        <p:spPr>
          <a:xfrm>
            <a:off x="8143037" y="2075688"/>
            <a:ext cx="35457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&lt; 1 表示线更短。</a:t>
            </a:r>
            <a:endParaRPr lang="en-US" sz="10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143037" y="2377440"/>
          <a:ext cx="354573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布通数：12 块板至少有一个会话不少于人工（k60 例外：279–306，人工 308）。HPWL：8 块板有会话低于人工。过孔是剩下的主要差距（k60 +57–65%，acc +40–46%）。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当前工具（cypress-layout harness）在大板上的结果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起点 → Cypress → 合法化 → 原生精确布线器，取多相位中位数；每板 3 个 dsh 会话。口径与上一页不同，不能混比。</a:t>
            </a:r>
            <a:endParaRPr lang="en-US" sz="1300" dirty="0"/>
          </a:p>
        </p:txBody>
      </p:sp>
      <p:sp>
        <p:nvSpPr>
          <p:cNvPr id="5" name="Chart title"/>
          <p:cNvSpPr txBox="1"/>
          <p:nvPr/>
        </p:nvSpPr>
        <p:spPr>
          <a:xfrm>
            <a:off x="502920" y="17830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布通网络数：Agent ÷ 人工（%）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148840"/>
          <a:ext cx="354573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hart title"/>
          <p:cNvSpPr txBox="1"/>
          <p:nvPr/>
        </p:nvSpPr>
        <p:spPr>
          <a:xfrm>
            <a:off x="4322978" y="17830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过孔：Agent ÷ 人工（倍）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322978" y="2148840"/>
          <a:ext cx="354573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hart title"/>
          <p:cNvSpPr txBox="1"/>
          <p:nvPr/>
        </p:nvSpPr>
        <p:spPr>
          <a:xfrm>
            <a:off x="8143037" y="17830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HPWL：Agent ÷ 人工（倍）</a:t>
            </a:r>
            <a:endParaRPr lang="en-US" sz="13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8143037" y="2148840"/>
          <a:ext cx="3545738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人工：k60 318 / 291 / 5799 mm，acc 617 / 2600 / 17115 mm，ppc-n3 1607 / 8729 / 54188 mm（布通网络 / 过孔 / HPWL）。ppc-n3 的过孔按层间切换计数。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Agent，逐板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逐板对比：每板展示 3 个会话中最好的一个（v7 sweep 旧数据，同一布线器）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z3r0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46/46 布通 · 36 过孔 · 714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46/46 布通 · 24 过孔 · 714 mm</a:t>
            </a:r>
            <a:endParaRPr lang="en-US" sz="1300" dirty="0"/>
          </a:p>
        </p:txBody>
      </p:sp>
      <p:sp>
        <p:nvSpPr>
          <p:cNvPr id="5" name="Image frame"/>
          <p:cNvSpPr/>
          <p:nvPr/>
        </p:nvSpPr>
        <p:spPr>
          <a:xfrm>
            <a:off x="502920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6" name="z3r0 人工布局" descr="z3r0 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541" y="2103120"/>
            <a:ext cx="1455202" cy="3657600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3276524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8" name="z3r0 Agent 布局" descr="z3r0 Agent 布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45" y="2103120"/>
            <a:ext cx="1455202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76524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3）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pico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86/86 布通 · 49 过孔 · 915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86/86 布通 · 48 过孔 · 876 mm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6278728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3" name="pico 人工布局" descr="pico 人工布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3125921"/>
            <a:ext cx="2636444" cy="1611997"/>
          </a:xfrm>
          <a:prstGeom prst="rect">
            <a:avLst/>
          </a:prstGeom>
        </p:spPr>
      </p:pic>
      <p:sp>
        <p:nvSpPr>
          <p:cNvPr id="14" name="Image frame"/>
          <p:cNvSpPr/>
          <p:nvPr/>
        </p:nvSpPr>
        <p:spPr>
          <a:xfrm>
            <a:off x="9052331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5" name="pico Agent 布局" descr="pico Agent 布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331" y="3125921"/>
            <a:ext cx="2636444" cy="161199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78728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331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2）</a:t>
            </a:r>
            <a:endParaRPr lang="en-US" sz="1000" dirty="0"/>
          </a:p>
        </p:txBody>
      </p:sp>
      <p:sp>
        <p:nvSpPr>
          <p:cNvPr id="18" name="Footnote"/>
          <p:cNvSpPr txBox="1"/>
          <p:nvPr/>
        </p:nvSpPr>
        <p:spPr>
          <a:xfrm>
            <a:off x="502920" y="6172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件：青 = 顶面，紫 = 底面，红 = 重叠；走线：红 = 顶层，蓝 = 底层，绿 = 内层，橙 = 冲突，红虚线 = 未布通。acc 的最好会话没有存图，只在第 19 页给数字。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Agent，逐板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逐板对比：每板展示 3 个会话中最好的一个（v7 sweep 旧数据，同一布线器）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edk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124/124 布通 · 64 过孔 · 3089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124/124 布通 · 50 过孔 · 2772 mm</a:t>
            </a:r>
            <a:endParaRPr lang="en-US" sz="1300" dirty="0"/>
          </a:p>
        </p:txBody>
      </p:sp>
      <p:sp>
        <p:nvSpPr>
          <p:cNvPr id="5" name="Image frame"/>
          <p:cNvSpPr/>
          <p:nvPr/>
        </p:nvSpPr>
        <p:spPr>
          <a:xfrm>
            <a:off x="502920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6" name="edk 人工布局" descr="edk 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0812"/>
            <a:ext cx="2636444" cy="2382215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3276524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8" name="edk Agent 布局" descr="edk Agent 布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24" y="2740812"/>
            <a:ext cx="2636444" cy="238221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76524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3）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edu-fpga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108/108 布通 · 76 过孔 · 2461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108/108 布通 · 94 过孔 · 2094 mm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6278728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3" name="edu-fpga 人工布局" descr="edu-fpga 人工布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931013"/>
            <a:ext cx="2636444" cy="2001814"/>
          </a:xfrm>
          <a:prstGeom prst="rect">
            <a:avLst/>
          </a:prstGeom>
        </p:spPr>
      </p:pic>
      <p:sp>
        <p:nvSpPr>
          <p:cNvPr id="14" name="Image frame"/>
          <p:cNvSpPr/>
          <p:nvPr/>
        </p:nvSpPr>
        <p:spPr>
          <a:xfrm>
            <a:off x="9052331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5" name="edu-fpga Agent 布局" descr="edu-fpga Agent 布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331" y="2931013"/>
            <a:ext cx="2636444" cy="200181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78728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331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2）</a:t>
            </a:r>
            <a:endParaRPr lang="en-US" sz="1000" dirty="0"/>
          </a:p>
        </p:txBody>
      </p:sp>
      <p:sp>
        <p:nvSpPr>
          <p:cNvPr id="18" name="Footnote"/>
          <p:cNvSpPr txBox="1"/>
          <p:nvPr/>
        </p:nvSpPr>
        <p:spPr>
          <a:xfrm>
            <a:off x="502920" y="6172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件：青 = 顶面，紫 = 底面，红 = 重叠；走线：红 = 顶层，蓝 = 底层，绿 = 内层，橙 = 冲突，红虚线 = 未布通。acc 的最好会话没有存图，只在第 19 页给数字。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Agent，逐板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逐板对比：每板展示 3 个会话中最好的一个（v7 sweep 旧数据，同一布线器）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fsl-mini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161/162 布通 · 167 过孔 · 4868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161/162 布通 · 255 过孔 · 5839 mm</a:t>
            </a:r>
            <a:endParaRPr lang="en-US" sz="1300" dirty="0"/>
          </a:p>
        </p:txBody>
      </p:sp>
      <p:sp>
        <p:nvSpPr>
          <p:cNvPr id="5" name="Image frame"/>
          <p:cNvSpPr/>
          <p:nvPr/>
        </p:nvSpPr>
        <p:spPr>
          <a:xfrm>
            <a:off x="502920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6" name="fsl-mini 人工布局" descr="fsl-mini 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04682"/>
            <a:ext cx="2636444" cy="3654477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3276524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8" name="fsl-mini Agent 布局" descr="fsl-mini Agent 布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24" y="2104682"/>
            <a:ext cx="2636444" cy="365447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76524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2）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edu-k60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156/157 布通 · 191 过孔 · 5412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156/157 布通 · 157 过孔 · 4585 mm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6278728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3" name="edu-k60 人工布局" descr="edu-k60 人工布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274" y="2103120"/>
            <a:ext cx="2317351" cy="3657600"/>
          </a:xfrm>
          <a:prstGeom prst="rect">
            <a:avLst/>
          </a:prstGeom>
        </p:spPr>
      </p:pic>
      <p:sp>
        <p:nvSpPr>
          <p:cNvPr id="14" name="Image frame"/>
          <p:cNvSpPr/>
          <p:nvPr/>
        </p:nvSpPr>
        <p:spPr>
          <a:xfrm>
            <a:off x="9052331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5" name="edu-k60 Agent 布局" descr="edu-k60 Agent 布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1878" y="2103120"/>
            <a:ext cx="2317351" cy="3657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78728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331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3）</a:t>
            </a:r>
            <a:endParaRPr lang="en-US" sz="1000" dirty="0"/>
          </a:p>
        </p:txBody>
      </p:sp>
      <p:sp>
        <p:nvSpPr>
          <p:cNvPr id="18" name="Footnote"/>
          <p:cNvSpPr txBox="1"/>
          <p:nvPr/>
        </p:nvSpPr>
        <p:spPr>
          <a:xfrm>
            <a:off x="502920" y="6172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件：青 = 顶面，紫 = 底面，红 = 重叠；走线：红 = 顶层，蓝 = 底层，绿 = 内层，橙 = 冲突，红虚线 = 未布通。acc 的最好会话没有存图，只在第 19 页给数字。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Agent，逐板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逐板对比：每板展示 3 个会话中最好的一个（v7 sweep 旧数据，同一布线器）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edu-nxp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161/163 布通 · 193 过孔 · 5399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162/163 布通 · 275 过孔 · 5399 mm</a:t>
            </a:r>
            <a:endParaRPr lang="en-US" sz="1300" dirty="0"/>
          </a:p>
        </p:txBody>
      </p:sp>
      <p:sp>
        <p:nvSpPr>
          <p:cNvPr id="5" name="Image frame"/>
          <p:cNvSpPr/>
          <p:nvPr/>
        </p:nvSpPr>
        <p:spPr>
          <a:xfrm>
            <a:off x="502920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6" name="edu-nxp 人工布局" descr="edu-nxp 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60" y="2103120"/>
            <a:ext cx="2319963" cy="3657600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3276524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8" name="edu-nxp Agent 布局" descr="edu-nxp Agent 布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764" y="2103120"/>
            <a:ext cx="2319963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76524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1）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safety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184/186 布通 · 239 过孔 · 5489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186/186 布通 · 247 过孔 · 5470 mm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6278728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3" name="safety 人工布局" descr="safety 人工布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2689967"/>
            <a:ext cx="2636444" cy="2483907"/>
          </a:xfrm>
          <a:prstGeom prst="rect">
            <a:avLst/>
          </a:prstGeom>
        </p:spPr>
      </p:pic>
      <p:sp>
        <p:nvSpPr>
          <p:cNvPr id="14" name="Image frame"/>
          <p:cNvSpPr/>
          <p:nvPr/>
        </p:nvSpPr>
        <p:spPr>
          <a:xfrm>
            <a:off x="9052331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5" name="safety Agent 布局" descr="safety Agent 布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331" y="2689967"/>
            <a:ext cx="2636444" cy="2483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78728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331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1）</a:t>
            </a:r>
            <a:endParaRPr lang="en-US" sz="1000" dirty="0"/>
          </a:p>
        </p:txBody>
      </p:sp>
      <p:sp>
        <p:nvSpPr>
          <p:cNvPr id="18" name="Footnote"/>
          <p:cNvSpPr txBox="1"/>
          <p:nvPr/>
        </p:nvSpPr>
        <p:spPr>
          <a:xfrm>
            <a:off x="502920" y="6172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件：青 = 顶面，紫 = 底面，红 = 重叠；走线：红 = 顶层，蓝 = 底层，绿 = 内层，橙 = 冲突，红虚线 = 未布通。acc 的最好会话没有存图，只在第 19 页给数字。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Agent，逐板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逐板对比：每板展示 3 个会话中最好的一个（v7 sweep 旧数据，同一布线器）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pic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303/310 布通 · 322 过孔 · 5955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308/310 布通 · 358 过孔 · 5472 mm</a:t>
            </a:r>
            <a:endParaRPr lang="en-US" sz="1300" dirty="0"/>
          </a:p>
        </p:txBody>
      </p:sp>
      <p:sp>
        <p:nvSpPr>
          <p:cNvPr id="5" name="Image frame"/>
          <p:cNvSpPr/>
          <p:nvPr/>
        </p:nvSpPr>
        <p:spPr>
          <a:xfrm>
            <a:off x="502920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6" name="pic 人工布局" descr="pic 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2382"/>
            <a:ext cx="2636444" cy="1659076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3276524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8" name="pic Agent 布局" descr="pic Agent 布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24" y="3102382"/>
            <a:ext cx="2636444" cy="16590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76524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1）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nxp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369/370 布通 · 603 过孔 · 8759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370/370 布通 · 711 过孔 · 8052 mm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6278728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3" name="nxp 人工布局" descr="nxp 人工布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3101440"/>
            <a:ext cx="2636444" cy="1660960"/>
          </a:xfrm>
          <a:prstGeom prst="rect">
            <a:avLst/>
          </a:prstGeom>
        </p:spPr>
      </p:pic>
      <p:sp>
        <p:nvSpPr>
          <p:cNvPr id="14" name="Image frame"/>
          <p:cNvSpPr/>
          <p:nvPr/>
        </p:nvSpPr>
        <p:spPr>
          <a:xfrm>
            <a:off x="9052331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5" name="nxp Agent 布局" descr="nxp Agent 布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331" y="3101440"/>
            <a:ext cx="2636444" cy="16609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78728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331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3）</a:t>
            </a:r>
            <a:endParaRPr lang="en-US" sz="1000" dirty="0"/>
          </a:p>
        </p:txBody>
      </p:sp>
      <p:sp>
        <p:nvSpPr>
          <p:cNvPr id="18" name="Footnote"/>
          <p:cNvSpPr txBox="1"/>
          <p:nvPr/>
        </p:nvSpPr>
        <p:spPr>
          <a:xfrm>
            <a:off x="502920" y="6172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件：青 = 顶面，紫 = 底面，红 = 重叠；走线：红 = 顶层，蓝 = 底层，绿 = 内层，橙 = 冲突，红虚线 = 未布通。acc 的最好会话没有存图，只在第 19 页给数字。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8 · 总结：人工 vs Agent，逐板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逐板对比：每板展示 3 个会话中最好的一个（v7 sweep 旧数据，同一布线器）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rx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399/400 布通 · 638 过孔 · 8270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400/400 布通 · 824 过孔 · 8501 mm</a:t>
            </a:r>
            <a:endParaRPr lang="en-US" sz="1300" dirty="0"/>
          </a:p>
        </p:txBody>
      </p:sp>
      <p:sp>
        <p:nvSpPr>
          <p:cNvPr id="5" name="Image frame"/>
          <p:cNvSpPr/>
          <p:nvPr/>
        </p:nvSpPr>
        <p:spPr>
          <a:xfrm>
            <a:off x="502920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6" name="rx 人工布局" descr="rx 人工布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73"/>
            <a:ext cx="2636444" cy="1645894"/>
          </a:xfrm>
          <a:prstGeom prst="rect">
            <a:avLst/>
          </a:prstGeom>
        </p:spPr>
      </p:pic>
      <p:sp>
        <p:nvSpPr>
          <p:cNvPr id="7" name="Image frame"/>
          <p:cNvSpPr/>
          <p:nvPr/>
        </p:nvSpPr>
        <p:spPr>
          <a:xfrm>
            <a:off x="3276524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8" name="rx Agent 布局" descr="rx Agent 布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24" y="3108973"/>
            <a:ext cx="2636444" cy="16458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276524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1）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23444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k60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人工 308/318 布通 · 303 过孔 · 5799 mm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Agent 306/318 布通 · 476 过孔 · 6858 mm</a:t>
            </a:r>
            <a:endParaRPr lang="en-US" sz="1300" dirty="0"/>
          </a:p>
        </p:txBody>
      </p:sp>
      <p:sp>
        <p:nvSpPr>
          <p:cNvPr id="12" name="Image frame"/>
          <p:cNvSpPr/>
          <p:nvPr/>
        </p:nvSpPr>
        <p:spPr>
          <a:xfrm>
            <a:off x="6278728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3" name="k60 人工布局" descr="k60 人工布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8" y="3093908"/>
            <a:ext cx="2636444" cy="1676025"/>
          </a:xfrm>
          <a:prstGeom prst="rect">
            <a:avLst/>
          </a:prstGeom>
        </p:spPr>
      </p:pic>
      <p:sp>
        <p:nvSpPr>
          <p:cNvPr id="14" name="Image frame"/>
          <p:cNvSpPr/>
          <p:nvPr/>
        </p:nvSpPr>
        <p:spPr>
          <a:xfrm>
            <a:off x="9052331" y="2103120"/>
            <a:ext cx="2636444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AD3"/>
            </a:solidFill>
            <a:prstDash val="solid"/>
          </a:ln>
        </p:spPr>
      </p:sp>
      <p:pic>
        <p:nvPicPr>
          <p:cNvPr id="15" name="k60 Agent 布局" descr="k60 Agent 布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331" y="3093908"/>
            <a:ext cx="2636444" cy="16760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278728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人工布局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052331" y="5806440"/>
            <a:ext cx="26364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Agent（v7，会话 3）</a:t>
            </a:r>
            <a:endParaRPr lang="en-US" sz="1000" dirty="0"/>
          </a:p>
        </p:txBody>
      </p:sp>
      <p:sp>
        <p:nvSpPr>
          <p:cNvPr id="18" name="Footnote"/>
          <p:cNvSpPr txBox="1"/>
          <p:nvPr/>
        </p:nvSpPr>
        <p:spPr>
          <a:xfrm>
            <a:off x="502920" y="6172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件：青 = 顶面，紫 = 底面，红 = 重叠；走线：红 = 顶层，蓝 = 底层，绿 = 内层，橙 = 冲突，红虚线 = 未布通。acc 的最好会话没有存图，只在第 19 页给数字。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总结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结论与下一步</a:t>
            </a:r>
            <a:endParaRPr lang="en-US" sz="2600" dirty="0"/>
          </a:p>
        </p:txBody>
      </p:sp>
      <p:sp>
        <p:nvSpPr>
          <p:cNvPr id="4" name="Findings"/>
          <p:cNvSpPr/>
          <p:nvPr/>
        </p:nvSpPr>
        <p:spPr>
          <a:xfrm>
            <a:off x="502920" y="1371600"/>
            <a:ext cx="5364328" cy="4663440"/>
          </a:xfrm>
          <a:prstGeom prst="roundRect">
            <a:avLst>
              <a:gd name="adj" fmla="val 156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结论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81568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RSI 循环有效，但瓶颈不在 prompt。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迭代 12 个版本后，同一版本会话之间的差距仍大于版本之间的差异。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起点是最关键的模块。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只用网表推导的起点，在 13 板上把过孔从 2.4–4.0 倍降到 1.3 倍。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工具速度决定 Agent 能试几次。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放置调用占会话 76% 的时间；布线器在 ppc 上从 151 s 降到 6.9 s。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评分器也要被优化。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单次路由的噪声（±15 条网络）会淹掉 prompt 之间的比较。</a:t>
            </a:r>
            <a:endParaRPr lang="en-US" sz="1300" dirty="0"/>
          </a:p>
        </p:txBody>
      </p:sp>
      <p:sp>
        <p:nvSpPr>
          <p:cNvPr id="7" name="Next"/>
          <p:cNvSpPr/>
          <p:nvPr/>
        </p:nvSpPr>
        <p:spPr>
          <a:xfrm>
            <a:off x="6324448" y="1371600"/>
            <a:ext cx="5364328" cy="4663440"/>
          </a:xfrm>
          <a:prstGeom prst="roundRect">
            <a:avLst>
              <a:gd name="adj" fmla="val 1569"/>
            </a:avLst>
          </a:prstGeom>
          <a:solidFill>
            <a:srgbClr val="F3F2EE"/>
          </a:solidFill>
          <a:ln w="12700">
            <a:solidFill>
              <a:srgbClr val="F3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8768" y="155448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下一步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011680"/>
            <a:ext cx="481568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剩下的差距是过孔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（k60 557 vs 345，pic 492 vs 363），集中在 IC 周边小件的精确排布上。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重跑 agent sweep：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用当前工具在 13 板 + ppc 上统一口径；第 19 页用的是旧数据。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路由器在环：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把 IC 邻居的排布交给路由器评估；前提是有和评估一致、足够快的路由器。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编辑器：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默认使用新起点；edk 出现回退，原因未查。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02920" y="292608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展望 · RSI 的将来演进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02920" y="56692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被改进的对象逐层上移：产物持续改进 → 复杂问题规划 → 反思和策略探索</a:t>
            </a:r>
            <a:endParaRPr lang="en-US" sz="2600" dirty="0"/>
          </a:p>
        </p:txBody>
      </p:sp>
      <p:sp>
        <p:nvSpPr>
          <p:cNvPr id="4" name="Subtitle"/>
          <p:cNvSpPr txBox="1"/>
          <p:nvPr/>
        </p:nvSpPr>
        <p:spPr>
          <a:xfrm>
            <a:off x="502920" y="1170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三种常见 RSI 框架共享同一条纪律：Agent 只负责提议，Host 用预先固定的 verifier 在全新的工作树里验收；Agent 自己报告的结果不算证据。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</a:rPr>
              <a:t>VeriLoop：产物持续改进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清华 SIGS，VeriLoop E2 技术报告（2026）。生成和验收分离，模型不能自证进步。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0604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从当前最优出发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提议一个候选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外部验证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不回退 + 至少一项严格变好：提交；否则回滚并反馈原因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886200"/>
            <a:ext cx="3545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结构：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单链爬山，每轮 1 个 Agent；成本随迭代数线性增长。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适用场景：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有确定性 verifier 的单一产物：修代码、补推导、调配置。</a:t>
            </a:r>
            <a:endParaRPr lang="en-US" sz="1050" dirty="0"/>
          </a:p>
        </p:txBody>
      </p:sp>
      <p:sp>
        <p:nvSpPr>
          <p:cNvPr id="9" name="PCB idea"/>
          <p:cNvSpPr/>
          <p:nvPr/>
        </p:nvSpPr>
        <p:spPr>
          <a:xfrm>
            <a:off x="502920" y="4937760"/>
            <a:ext cx="3545738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5010912"/>
            <a:ext cx="332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在 PCB 上：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把 refine 链的接受规则改成“鲁棒评分下布通数不回退、过孔或 HPWL 严格变好”，由 Host 判定而不是 Agent 自己挑。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322978" y="178308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6834"/>
                </a:solidFill>
              </a:rPr>
              <a:t>Raven：复杂问题规划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22978" y="210312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EverMind AI，arXiv 2609.33439（2026-09），“Harness 的 Harness”。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322978" y="260604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Planner 拆成 DAG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按能力派给不同 Agent 并行执行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集成 → 整体验收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失败：记入记忆，重新规划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22978" y="3886200"/>
            <a:ext cx="3545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结构：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每轮一张图，没改动的节点复用缓存；论文中还有 harness 自进化和技能库。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适用场景：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多专家协作的复合任务（研究、代码、设计、值班）。</a:t>
            </a:r>
            <a:endParaRPr lang="en-US" sz="1050" dirty="0"/>
          </a:p>
        </p:txBody>
      </p:sp>
      <p:sp>
        <p:nvSpPr>
          <p:cNvPr id="15" name="PCB idea"/>
          <p:cNvSpPr/>
          <p:nvPr/>
        </p:nvSpPr>
        <p:spPr>
          <a:xfrm>
            <a:off x="4322978" y="4937760"/>
            <a:ext cx="3545738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2706" y="5010912"/>
            <a:ext cx="332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在 PCB 上：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按模块拆（MCU、电源、接口、存储）并行布局，再集成成全板验收。ppc 上单个 Agent 只做了 4–8 次 place 就自行停止（预算 16 次）。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143037" y="1783080"/>
            <a:ext cx="3545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AF7A"/>
                </a:solidFill>
              </a:rPr>
              <a:t>Dream-RSI：反思和策略探索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143037" y="210312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UMD · Google DeepMind · UVA，arXiv 2609.14858（2026-09）。已积累的发现历史就是回放模拟器。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143037" y="2606040"/>
            <a:ext cx="35457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在线：策略驱动 Agent 扩展发现树（贵）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离线“做梦”：在历史树上回放、改写 policy（便宜）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</a:rPr>
              <a:t>回放分严格更高：换上新策略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143037" y="3886200"/>
            <a:ext cx="3545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结构：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只改“扩展哪个节点、并行几个、何时停”；论文在 Lasso 任务上调用数从 550 降到 317。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适用场景：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成千上万次“提议-评估”的长程发现任务：算法、数学优化、GPU kernel。</a:t>
            </a:r>
            <a:endParaRPr lang="en-US" sz="1050" dirty="0"/>
          </a:p>
        </p:txBody>
      </p:sp>
      <p:sp>
        <p:nvSpPr>
          <p:cNvPr id="21" name="PCB idea"/>
          <p:cNvSpPr/>
          <p:nvPr/>
        </p:nvSpPr>
        <p:spPr>
          <a:xfrm>
            <a:off x="8143037" y="4937760"/>
            <a:ext cx="3545738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52765" y="5010912"/>
            <a:ext cx="3326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在 PCB 上：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会话 75–78% 的时间花在放置调用上：把 v1–v12 的轨迹当回放语料，离线优化“何时新开 floorplan、何时 refine、何时停”。</a:t>
            </a:r>
            <a:endParaRPr lang="en-US" sz="1050" dirty="0"/>
          </a:p>
        </p:txBody>
      </p:sp>
      <p:sp>
        <p:nvSpPr>
          <p:cNvPr id="23" name="Footnote"/>
          <p:cNvSpPr txBox="1"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出处整理自 SilverRetort 仓库 doc/slides/rsi-algorithms.html（三个 recipe 的论文对照与 v9 实现）。“在 PCB 上”一栏是设想，尚未实验。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SI Deck">
  <a:themeElements>
    <a:clrScheme name="RSI Deck">
      <a:dk1>
        <a:srgbClr val="0B0B0B"/>
      </a:dk1>
      <a:lt1>
        <a:srgbClr val="FFFFFF"/>
      </a:lt1>
      <a:dk2>
        <a:srgbClr val="52514E"/>
      </a:dk2>
      <a:lt2>
        <a:srgbClr val="F3F2EE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B9B7B0"/>
      </a:accent6>
      <a:hlink>
        <a:srgbClr val="2A78D6"/>
      </a:hlink>
      <a:folHlink>
        <a:srgbClr val="52514E"/>
      </a:folHlink>
    </a:clrScheme>
    <a:fontScheme name="RSI Deck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自进化 Harness：PCB 布局</dc:title>
  <dc:subject>PptxGenJS Presentation</dc:subject>
  <dc:creator>oxyflour</dc:creator>
  <cp:lastModifiedBy>oxyflour</cp:lastModifiedBy>
  <cp:revision>1</cp:revision>
  <dcterms:created xsi:type="dcterms:W3CDTF">2026-10-08T01:10:42Z</dcterms:created>
  <dcterms:modified xsi:type="dcterms:W3CDTF">2026-10-08T01:10:42Z</dcterms:modified>
</cp:coreProperties>
</file>